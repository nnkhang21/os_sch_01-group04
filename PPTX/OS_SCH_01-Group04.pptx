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Lst>
  <p:sldSz cx="18288000" cy="10287000"/>
  <p:notesSz cx="6858000" cy="9144000"/>
  <p:embeddedFontLst>
    <p:embeddedFont>
      <p:font typeface="Poppins Bold" charset="1" panose="00000800000000000000"/>
      <p:regular r:id="rId17"/>
    </p:embeddedFont>
    <p:embeddedFont>
      <p:font typeface="Faustina Bold" charset="1" panose="00000800000000000000"/>
      <p:regular r:id="rId18"/>
    </p:embeddedFont>
    <p:embeddedFont>
      <p:font typeface="Poppins Medium" charset="1" panose="00000600000000000000"/>
      <p:regular r:id="rId19"/>
    </p:embeddedFont>
    <p:embeddedFont>
      <p:font typeface="Paytone One" charset="1" panose="00000500000000000000"/>
      <p:regular r:id="rId20"/>
    </p:embeddedFont>
    <p:embeddedFont>
      <p:font typeface="Canva Sans" charset="1" panose="020B0503030501040103"/>
      <p:regular r:id="rId21"/>
    </p:embeddedFont>
    <p:embeddedFont>
      <p:font typeface="Arial Bold" charset="1" panose="020B0704020202020204"/>
      <p:regular r:id="rId22"/>
    </p:embeddedFont>
    <p:embeddedFont>
      <p:font typeface="Arial" charset="1" panose="020B0604020202020204"/>
      <p:regular r:id="rId23"/>
    </p:embeddedFont>
    <p:embeddedFont>
      <p:font typeface="Raleway Bold" charset="1" panose="00000000000000000000"/>
      <p:regular r:id="rId24"/>
    </p:embeddedFont>
    <p:embeddedFont>
      <p:font typeface="Raleway" charset="1" panose="00000000000000000000"/>
      <p:regular r:id="rId25"/>
    </p:embeddedFont>
    <p:embeddedFont>
      <p:font typeface="Canva Sans Bold" charset="1" panose="020B0803030501040103"/>
      <p:regular r:id="rId26"/>
    </p:embeddedFont>
    <p:embeddedFont>
      <p:font typeface="Poppins" charset="1" panose="00000500000000000000"/>
      <p:regular r:id="rId27"/>
    </p:embeddedFont>
    <p:embeddedFont>
      <p:font typeface="Agrandir Grand" charset="1" panose="0000050700000000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 Id="rId6" Target="../media/image5.sv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9.png" Type="http://schemas.openxmlformats.org/officeDocument/2006/relationships/image"/><Relationship Id="rId4" Target="../media/image10.svg" Type="http://schemas.openxmlformats.org/officeDocument/2006/relationships/image"/><Relationship Id="rId5" Target="../media/image11.png" Type="http://schemas.openxmlformats.org/officeDocument/2006/relationships/image"/><Relationship Id="rId6" Target="../media/image12.svg" Type="http://schemas.openxmlformats.org/officeDocument/2006/relationships/image"/><Relationship Id="rId7" Target="../media/image13.png" Type="http://schemas.openxmlformats.org/officeDocument/2006/relationships/image"/><Relationship Id="rId8" Target="../media/image14.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5.png" Type="http://schemas.openxmlformats.org/officeDocument/2006/relationships/image"/><Relationship Id="rId4" Target="../media/image16.svg" Type="http://schemas.openxmlformats.org/officeDocument/2006/relationships/image"/><Relationship Id="rId5" Target="../media/image17.png" Type="http://schemas.openxmlformats.org/officeDocument/2006/relationships/image"/><Relationship Id="rId6" Target="../media/image18.svg" Type="http://schemas.openxmlformats.org/officeDocument/2006/relationships/image"/><Relationship Id="rId7" Target="../media/image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19.png" Type="http://schemas.openxmlformats.org/officeDocument/2006/relationships/image"/><Relationship Id="rId4" Target="../media/image20.png" Type="http://schemas.openxmlformats.org/officeDocument/2006/relationships/image"/><Relationship Id="rId5" Target="../media/image21.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2.png" Type="http://schemas.openxmlformats.org/officeDocument/2006/relationships/image"/><Relationship Id="rId4" Target="../media/image23.svg" Type="http://schemas.openxmlformats.org/officeDocument/2006/relationships/image"/><Relationship Id="rId5" Target="../media/image24.png" Type="http://schemas.openxmlformats.org/officeDocument/2006/relationships/image"/><Relationship Id="rId6" Target="../media/image25.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6.png" Type="http://schemas.openxmlformats.org/officeDocument/2006/relationships/image"/><Relationship Id="rId3" Target="../media/image27.svg" Type="http://schemas.openxmlformats.org/officeDocument/2006/relationships/image"/><Relationship Id="rId4" Target="../media/image28.png" Type="http://schemas.openxmlformats.org/officeDocument/2006/relationships/image"/><Relationship Id="rId5" Target="../media/image29.png" Type="http://schemas.openxmlformats.org/officeDocument/2006/relationships/image"/><Relationship Id="rId6" Target="../media/image30.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0" y="3464247"/>
            <a:ext cx="18939059" cy="1464829"/>
            <a:chOff x="0" y="0"/>
            <a:chExt cx="4988065" cy="385799"/>
          </a:xfrm>
        </p:grpSpPr>
        <p:sp>
          <p:nvSpPr>
            <p:cNvPr name="Freeform 4" id="4"/>
            <p:cNvSpPr/>
            <p:nvPr/>
          </p:nvSpPr>
          <p:spPr>
            <a:xfrm flipH="false" flipV="false" rot="0">
              <a:off x="0" y="0"/>
              <a:ext cx="4988065" cy="385799"/>
            </a:xfrm>
            <a:custGeom>
              <a:avLst/>
              <a:gdLst/>
              <a:ahLst/>
              <a:cxnLst/>
              <a:rect r="r" b="b" t="t" l="l"/>
              <a:pathLst>
                <a:path h="385799" w="4988065">
                  <a:moveTo>
                    <a:pt x="0" y="0"/>
                  </a:moveTo>
                  <a:lnTo>
                    <a:pt x="4988065" y="0"/>
                  </a:lnTo>
                  <a:lnTo>
                    <a:pt x="4988065" y="385799"/>
                  </a:lnTo>
                  <a:lnTo>
                    <a:pt x="0" y="385799"/>
                  </a:lnTo>
                  <a:close/>
                </a:path>
              </a:pathLst>
            </a:custGeom>
            <a:solidFill>
              <a:srgbClr val="2B59C3">
                <a:alpha val="71765"/>
              </a:srgbClr>
            </a:solidFill>
          </p:spPr>
        </p:sp>
        <p:sp>
          <p:nvSpPr>
            <p:cNvPr name="TextBox 5" id="5"/>
            <p:cNvSpPr txBox="true"/>
            <p:nvPr/>
          </p:nvSpPr>
          <p:spPr>
            <a:xfrm>
              <a:off x="0" y="28575"/>
              <a:ext cx="4988065" cy="357224"/>
            </a:xfrm>
            <a:prstGeom prst="rect">
              <a:avLst/>
            </a:prstGeom>
          </p:spPr>
          <p:txBody>
            <a:bodyPr anchor="ctr" rtlCol="false" tIns="50800" lIns="50800" bIns="50800" rIns="50800"/>
            <a:lstStyle/>
            <a:p>
              <a:pPr algn="ctr">
                <a:lnSpc>
                  <a:spcPts val="2661"/>
                </a:lnSpc>
              </a:pPr>
            </a:p>
          </p:txBody>
        </p:sp>
      </p:grpSp>
      <p:sp>
        <p:nvSpPr>
          <p:cNvPr name="Freeform 6" id="6"/>
          <p:cNvSpPr/>
          <p:nvPr/>
        </p:nvSpPr>
        <p:spPr>
          <a:xfrm flipH="false" flipV="false" rot="0">
            <a:off x="13156286" y="1374714"/>
            <a:ext cx="5131714" cy="6548591"/>
          </a:xfrm>
          <a:custGeom>
            <a:avLst/>
            <a:gdLst/>
            <a:ahLst/>
            <a:cxnLst/>
            <a:rect r="r" b="b" t="t" l="l"/>
            <a:pathLst>
              <a:path h="6548591" w="5131714">
                <a:moveTo>
                  <a:pt x="0" y="0"/>
                </a:moveTo>
                <a:lnTo>
                  <a:pt x="5131714" y="0"/>
                </a:lnTo>
                <a:lnTo>
                  <a:pt x="5131714" y="6548591"/>
                </a:lnTo>
                <a:lnTo>
                  <a:pt x="0" y="654859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13010810" y="-155024"/>
            <a:ext cx="6775868" cy="4114800"/>
          </a:xfrm>
          <a:custGeom>
            <a:avLst/>
            <a:gdLst/>
            <a:ahLst/>
            <a:cxnLst/>
            <a:rect r="r" b="b" t="t" l="l"/>
            <a:pathLst>
              <a:path h="4114800" w="6775868">
                <a:moveTo>
                  <a:pt x="0" y="0"/>
                </a:moveTo>
                <a:lnTo>
                  <a:pt x="6775868" y="0"/>
                </a:lnTo>
                <a:lnTo>
                  <a:pt x="6775868"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true" flipV="true" rot="0">
            <a:off x="12417225" y="6172200"/>
            <a:ext cx="6775868" cy="4114800"/>
          </a:xfrm>
          <a:custGeom>
            <a:avLst/>
            <a:gdLst/>
            <a:ahLst/>
            <a:cxnLst/>
            <a:rect r="r" b="b" t="t" l="l"/>
            <a:pathLst>
              <a:path h="4114800" w="6775868">
                <a:moveTo>
                  <a:pt x="6775869" y="4114800"/>
                </a:moveTo>
                <a:lnTo>
                  <a:pt x="0" y="4114800"/>
                </a:lnTo>
                <a:lnTo>
                  <a:pt x="0" y="0"/>
                </a:lnTo>
                <a:lnTo>
                  <a:pt x="6775869" y="0"/>
                </a:lnTo>
                <a:lnTo>
                  <a:pt x="6775869" y="411480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9" id="9"/>
          <p:cNvSpPr txBox="true"/>
          <p:nvPr/>
        </p:nvSpPr>
        <p:spPr>
          <a:xfrm rot="0">
            <a:off x="190451" y="3511872"/>
            <a:ext cx="6483384" cy="2599827"/>
          </a:xfrm>
          <a:prstGeom prst="rect">
            <a:avLst/>
          </a:prstGeom>
        </p:spPr>
        <p:txBody>
          <a:bodyPr anchor="t" rtlCol="false" tIns="0" lIns="0" bIns="0" rIns="0">
            <a:spAutoFit/>
          </a:bodyPr>
          <a:lstStyle/>
          <a:p>
            <a:pPr algn="l">
              <a:lnSpc>
                <a:spcPts val="9724"/>
              </a:lnSpc>
            </a:pPr>
            <a:r>
              <a:rPr lang="en-US" sz="9350" b="true">
                <a:solidFill>
                  <a:srgbClr val="F4F4F4"/>
                </a:solidFill>
                <a:latin typeface="Poppins Bold"/>
                <a:ea typeface="Poppins Bold"/>
                <a:cs typeface="Poppins Bold"/>
                <a:sym typeface="Poppins Bold"/>
              </a:rPr>
              <a:t>CPU </a:t>
            </a:r>
          </a:p>
          <a:p>
            <a:pPr algn="l">
              <a:lnSpc>
                <a:spcPts val="9724"/>
              </a:lnSpc>
              <a:spcBef>
                <a:spcPct val="0"/>
              </a:spcBef>
            </a:pPr>
          </a:p>
        </p:txBody>
      </p:sp>
      <p:sp>
        <p:nvSpPr>
          <p:cNvPr name="Freeform 10" id="10"/>
          <p:cNvSpPr/>
          <p:nvPr/>
        </p:nvSpPr>
        <p:spPr>
          <a:xfrm flipH="false" flipV="false" rot="0">
            <a:off x="9263774" y="-842039"/>
            <a:ext cx="6775868" cy="4114800"/>
          </a:xfrm>
          <a:custGeom>
            <a:avLst/>
            <a:gdLst/>
            <a:ahLst/>
            <a:cxnLst/>
            <a:rect r="r" b="b" t="t" l="l"/>
            <a:pathLst>
              <a:path h="4114800" w="6775868">
                <a:moveTo>
                  <a:pt x="0" y="0"/>
                </a:moveTo>
                <a:lnTo>
                  <a:pt x="6775868" y="0"/>
                </a:lnTo>
                <a:lnTo>
                  <a:pt x="6775868" y="4114800"/>
                </a:lnTo>
                <a:lnTo>
                  <a:pt x="0" y="411480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0">
            <a:off x="14856933" y="3174284"/>
            <a:ext cx="3083622" cy="3126612"/>
          </a:xfrm>
          <a:custGeom>
            <a:avLst/>
            <a:gdLst/>
            <a:ahLst/>
            <a:cxnLst/>
            <a:rect r="r" b="b" t="t" l="l"/>
            <a:pathLst>
              <a:path h="3126612" w="3083622">
                <a:moveTo>
                  <a:pt x="0" y="0"/>
                </a:moveTo>
                <a:lnTo>
                  <a:pt x="3083622" y="0"/>
                </a:lnTo>
                <a:lnTo>
                  <a:pt x="3083622" y="3126613"/>
                </a:lnTo>
                <a:lnTo>
                  <a:pt x="0" y="3126613"/>
                </a:lnTo>
                <a:lnTo>
                  <a:pt x="0" y="0"/>
                </a:lnTo>
                <a:close/>
              </a:path>
            </a:pathLst>
          </a:custGeom>
          <a:blipFill>
            <a:blip r:embed="rId7">
              <a:alphaModFix amt="71000"/>
            </a:blip>
            <a:stretch>
              <a:fillRect l="0" t="0" r="0" b="0"/>
            </a:stretch>
          </a:blipFill>
        </p:spPr>
      </p:sp>
      <p:sp>
        <p:nvSpPr>
          <p:cNvPr name="Freeform 12" id="12"/>
          <p:cNvSpPr/>
          <p:nvPr/>
        </p:nvSpPr>
        <p:spPr>
          <a:xfrm flipH="false" flipV="false" rot="0">
            <a:off x="-246058" y="346014"/>
            <a:ext cx="2549517" cy="2585062"/>
          </a:xfrm>
          <a:custGeom>
            <a:avLst/>
            <a:gdLst/>
            <a:ahLst/>
            <a:cxnLst/>
            <a:rect r="r" b="b" t="t" l="l"/>
            <a:pathLst>
              <a:path h="2585062" w="2549517">
                <a:moveTo>
                  <a:pt x="0" y="0"/>
                </a:moveTo>
                <a:lnTo>
                  <a:pt x="2549516" y="0"/>
                </a:lnTo>
                <a:lnTo>
                  <a:pt x="2549516" y="2585062"/>
                </a:lnTo>
                <a:lnTo>
                  <a:pt x="0" y="2585062"/>
                </a:lnTo>
                <a:lnTo>
                  <a:pt x="0" y="0"/>
                </a:lnTo>
                <a:close/>
              </a:path>
            </a:pathLst>
          </a:custGeom>
          <a:blipFill>
            <a:blip r:embed="rId7">
              <a:alphaModFix amt="71000"/>
            </a:blip>
            <a:stretch>
              <a:fillRect l="0" t="0" r="0" b="0"/>
            </a:stretch>
          </a:blipFill>
        </p:spPr>
      </p:sp>
      <p:sp>
        <p:nvSpPr>
          <p:cNvPr name="Freeform 13" id="13"/>
          <p:cNvSpPr/>
          <p:nvPr/>
        </p:nvSpPr>
        <p:spPr>
          <a:xfrm flipH="false" flipV="false" rot="0">
            <a:off x="2660616" y="1374714"/>
            <a:ext cx="527662" cy="527662"/>
          </a:xfrm>
          <a:custGeom>
            <a:avLst/>
            <a:gdLst/>
            <a:ahLst/>
            <a:cxnLst/>
            <a:rect r="r" b="b" t="t" l="l"/>
            <a:pathLst>
              <a:path h="527662" w="527662">
                <a:moveTo>
                  <a:pt x="0" y="0"/>
                </a:moveTo>
                <a:lnTo>
                  <a:pt x="527661" y="0"/>
                </a:lnTo>
                <a:lnTo>
                  <a:pt x="527661" y="527662"/>
                </a:lnTo>
                <a:lnTo>
                  <a:pt x="0" y="527662"/>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4" id="14"/>
          <p:cNvSpPr txBox="true"/>
          <p:nvPr/>
        </p:nvSpPr>
        <p:spPr>
          <a:xfrm rot="0">
            <a:off x="205755" y="4967175"/>
            <a:ext cx="9263774" cy="3456078"/>
          </a:xfrm>
          <a:prstGeom prst="rect">
            <a:avLst/>
          </a:prstGeom>
        </p:spPr>
        <p:txBody>
          <a:bodyPr anchor="t" rtlCol="false" tIns="0" lIns="0" bIns="0" rIns="0">
            <a:spAutoFit/>
          </a:bodyPr>
          <a:lstStyle/>
          <a:p>
            <a:pPr algn="l">
              <a:lnSpc>
                <a:spcPts val="6656"/>
              </a:lnSpc>
            </a:pPr>
            <a:r>
              <a:rPr lang="en-US" sz="6400" b="true">
                <a:solidFill>
                  <a:srgbClr val="063050"/>
                </a:solidFill>
                <a:latin typeface="Poppins Bold"/>
                <a:ea typeface="Poppins Bold"/>
                <a:cs typeface="Poppins Bold"/>
                <a:sym typeface="Poppins Bold"/>
              </a:rPr>
              <a:t>Scheduling Simulator</a:t>
            </a:r>
          </a:p>
          <a:p>
            <a:pPr algn="l">
              <a:lnSpc>
                <a:spcPts val="6656"/>
              </a:lnSpc>
            </a:pPr>
            <a:r>
              <a:rPr lang="en-US" sz="6400" b="true">
                <a:solidFill>
                  <a:srgbClr val="063050"/>
                </a:solidFill>
                <a:latin typeface="Poppins Bold"/>
                <a:ea typeface="Poppins Bold"/>
                <a:cs typeface="Poppins Bold"/>
                <a:sym typeface="Poppins Bold"/>
              </a:rPr>
              <a:t>FCFS &amp; SJF </a:t>
            </a:r>
          </a:p>
          <a:p>
            <a:pPr algn="l">
              <a:lnSpc>
                <a:spcPts val="6656"/>
              </a:lnSpc>
            </a:pPr>
            <a:r>
              <a:rPr lang="en-US" sz="6400" b="true">
                <a:solidFill>
                  <a:srgbClr val="063050"/>
                </a:solidFill>
                <a:latin typeface="Poppins Bold"/>
                <a:ea typeface="Poppins Bold"/>
                <a:cs typeface="Poppins Bold"/>
                <a:sym typeface="Poppins Bold"/>
              </a:rPr>
              <a:t>(Non-Preemptive)</a:t>
            </a:r>
          </a:p>
          <a:p>
            <a:pPr algn="l">
              <a:lnSpc>
                <a:spcPts val="6656"/>
              </a:lnSpc>
              <a:spcBef>
                <a:spcPct val="0"/>
              </a:spcBef>
            </a:pPr>
          </a:p>
        </p:txBody>
      </p:sp>
      <p:sp>
        <p:nvSpPr>
          <p:cNvPr name="TextBox 15" id="15"/>
          <p:cNvSpPr txBox="true"/>
          <p:nvPr/>
        </p:nvSpPr>
        <p:spPr>
          <a:xfrm rot="0">
            <a:off x="677601" y="8990435"/>
            <a:ext cx="6915888" cy="554779"/>
          </a:xfrm>
          <a:prstGeom prst="rect">
            <a:avLst/>
          </a:prstGeom>
        </p:spPr>
        <p:txBody>
          <a:bodyPr anchor="t" rtlCol="false" tIns="0" lIns="0" bIns="0" rIns="0">
            <a:spAutoFit/>
          </a:bodyPr>
          <a:lstStyle/>
          <a:p>
            <a:pPr algn="l">
              <a:lnSpc>
                <a:spcPts val="3944"/>
              </a:lnSpc>
              <a:spcBef>
                <a:spcPct val="0"/>
              </a:spcBef>
            </a:pPr>
            <a:r>
              <a:rPr lang="en-US" b="true" sz="3793">
                <a:solidFill>
                  <a:srgbClr val="FF5757"/>
                </a:solidFill>
                <a:latin typeface="Poppins Bold"/>
                <a:ea typeface="Poppins Bold"/>
                <a:cs typeface="Poppins Bold"/>
                <a:sym typeface="Poppins Bold"/>
              </a:rPr>
              <a:t>OS_SCH_01-Group04</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sp>
        <p:nvSpPr>
          <p:cNvPr name="Freeform 6" id="6"/>
          <p:cNvSpPr/>
          <p:nvPr/>
        </p:nvSpPr>
        <p:spPr>
          <a:xfrm flipH="false" flipV="false" rot="0">
            <a:off x="665409" y="3003832"/>
            <a:ext cx="7817731" cy="4946492"/>
          </a:xfrm>
          <a:custGeom>
            <a:avLst/>
            <a:gdLst/>
            <a:ahLst/>
            <a:cxnLst/>
            <a:rect r="r" b="b" t="t" l="l"/>
            <a:pathLst>
              <a:path h="4946492" w="7817731">
                <a:moveTo>
                  <a:pt x="0" y="0"/>
                </a:moveTo>
                <a:lnTo>
                  <a:pt x="7817731" y="0"/>
                </a:lnTo>
                <a:lnTo>
                  <a:pt x="7817731" y="4946492"/>
                </a:lnTo>
                <a:lnTo>
                  <a:pt x="0" y="494649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1158745" y="2705378"/>
            <a:ext cx="1765702" cy="1981910"/>
          </a:xfrm>
          <a:custGeom>
            <a:avLst/>
            <a:gdLst/>
            <a:ahLst/>
            <a:cxnLst/>
            <a:rect r="r" b="b" t="t" l="l"/>
            <a:pathLst>
              <a:path h="1981910" w="1765702">
                <a:moveTo>
                  <a:pt x="0" y="0"/>
                </a:moveTo>
                <a:lnTo>
                  <a:pt x="1765702" y="0"/>
                </a:lnTo>
                <a:lnTo>
                  <a:pt x="1765702" y="1981910"/>
                </a:lnTo>
                <a:lnTo>
                  <a:pt x="0" y="19819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8" id="8"/>
          <p:cNvGrpSpPr/>
          <p:nvPr/>
        </p:nvGrpSpPr>
        <p:grpSpPr>
          <a:xfrm rot="0">
            <a:off x="10422040" y="3598104"/>
            <a:ext cx="357065" cy="357065"/>
            <a:chOff x="0" y="0"/>
            <a:chExt cx="94042" cy="94042"/>
          </a:xfrm>
        </p:grpSpPr>
        <p:sp>
          <p:nvSpPr>
            <p:cNvPr name="Freeform 9" id="9"/>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10" id="10"/>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11" id="11"/>
          <p:cNvSpPr txBox="true"/>
          <p:nvPr/>
        </p:nvSpPr>
        <p:spPr>
          <a:xfrm rot="0">
            <a:off x="7745409" y="1271577"/>
            <a:ext cx="10070484" cy="850321"/>
          </a:xfrm>
          <a:prstGeom prst="rect">
            <a:avLst/>
          </a:prstGeom>
        </p:spPr>
        <p:txBody>
          <a:bodyPr anchor="t" rtlCol="false" tIns="0" lIns="0" bIns="0" rIns="0">
            <a:spAutoFit/>
          </a:bodyPr>
          <a:lstStyle/>
          <a:p>
            <a:pPr algn="l">
              <a:lnSpc>
                <a:spcPts val="6470"/>
              </a:lnSpc>
              <a:spcBef>
                <a:spcPct val="0"/>
              </a:spcBef>
            </a:pPr>
            <a:r>
              <a:rPr lang="en-US" b="true" sz="6221">
                <a:solidFill>
                  <a:srgbClr val="F0F7FE"/>
                </a:solidFill>
                <a:latin typeface="Faustina Bold"/>
                <a:ea typeface="Faustina Bold"/>
                <a:cs typeface="Faustina Bold"/>
                <a:sym typeface="Faustina Bold"/>
              </a:rPr>
              <a:t>THÀNH VIÊN NHÓM</a:t>
            </a:r>
          </a:p>
        </p:txBody>
      </p:sp>
      <p:sp>
        <p:nvSpPr>
          <p:cNvPr name="TextBox 12" id="12"/>
          <p:cNvSpPr txBox="true"/>
          <p:nvPr/>
        </p:nvSpPr>
        <p:spPr>
          <a:xfrm rot="0">
            <a:off x="11267488" y="7555159"/>
            <a:ext cx="4021558"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Ôn Hà Khánh Băng</a:t>
            </a:r>
          </a:p>
        </p:txBody>
      </p:sp>
      <p:grpSp>
        <p:nvGrpSpPr>
          <p:cNvPr name="Group 13" id="13"/>
          <p:cNvGrpSpPr/>
          <p:nvPr/>
        </p:nvGrpSpPr>
        <p:grpSpPr>
          <a:xfrm rot="0">
            <a:off x="10422040" y="7593259"/>
            <a:ext cx="357065" cy="357065"/>
            <a:chOff x="0" y="0"/>
            <a:chExt cx="94042" cy="94042"/>
          </a:xfrm>
        </p:grpSpPr>
        <p:sp>
          <p:nvSpPr>
            <p:cNvPr name="Freeform 14" id="14"/>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15" id="15"/>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16" id="16"/>
          <p:cNvSpPr txBox="true"/>
          <p:nvPr/>
        </p:nvSpPr>
        <p:spPr>
          <a:xfrm rot="0">
            <a:off x="11267488" y="3560004"/>
            <a:ext cx="4357426"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Phạm Thái Khang</a:t>
            </a:r>
          </a:p>
        </p:txBody>
      </p:sp>
      <p:sp>
        <p:nvSpPr>
          <p:cNvPr name="Freeform 17" id="17"/>
          <p:cNvSpPr/>
          <p:nvPr/>
        </p:nvSpPr>
        <p:spPr>
          <a:xfrm flipH="false" flipV="false" rot="0">
            <a:off x="5979707" y="5791920"/>
            <a:ext cx="1765702" cy="1981910"/>
          </a:xfrm>
          <a:custGeom>
            <a:avLst/>
            <a:gdLst/>
            <a:ahLst/>
            <a:cxnLst/>
            <a:rect r="r" b="b" t="t" l="l"/>
            <a:pathLst>
              <a:path h="1981910" w="1765702">
                <a:moveTo>
                  <a:pt x="0" y="0"/>
                </a:moveTo>
                <a:lnTo>
                  <a:pt x="1765702" y="0"/>
                </a:lnTo>
                <a:lnTo>
                  <a:pt x="1765702" y="1981910"/>
                </a:lnTo>
                <a:lnTo>
                  <a:pt x="0" y="19819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8" id="18"/>
          <p:cNvSpPr/>
          <p:nvPr/>
        </p:nvSpPr>
        <p:spPr>
          <a:xfrm flipH="false" flipV="false" rot="0">
            <a:off x="161553" y="8530070"/>
            <a:ext cx="8549894" cy="1041533"/>
          </a:xfrm>
          <a:custGeom>
            <a:avLst/>
            <a:gdLst/>
            <a:ahLst/>
            <a:cxnLst/>
            <a:rect r="r" b="b" t="t" l="l"/>
            <a:pathLst>
              <a:path h="1041533" w="8549894">
                <a:moveTo>
                  <a:pt x="0" y="0"/>
                </a:moveTo>
                <a:lnTo>
                  <a:pt x="8549893" y="0"/>
                </a:lnTo>
                <a:lnTo>
                  <a:pt x="8549893" y="1041533"/>
                </a:lnTo>
                <a:lnTo>
                  <a:pt x="0" y="104153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19" id="19"/>
          <p:cNvSpPr txBox="true"/>
          <p:nvPr/>
        </p:nvSpPr>
        <p:spPr>
          <a:xfrm rot="0">
            <a:off x="407169" y="8901624"/>
            <a:ext cx="7451601" cy="307950"/>
          </a:xfrm>
          <a:prstGeom prst="rect">
            <a:avLst/>
          </a:prstGeom>
        </p:spPr>
        <p:txBody>
          <a:bodyPr anchor="t" rtlCol="false" tIns="0" lIns="0" bIns="0" rIns="0">
            <a:spAutoFit/>
          </a:bodyPr>
          <a:lstStyle/>
          <a:p>
            <a:pPr algn="l">
              <a:lnSpc>
                <a:spcPts val="2175"/>
              </a:lnSpc>
              <a:spcBef>
                <a:spcPct val="0"/>
              </a:spcBef>
            </a:pPr>
            <a:r>
              <a:rPr lang="en-US" b="true" sz="2091">
                <a:solidFill>
                  <a:srgbClr val="0B4876"/>
                </a:solidFill>
                <a:latin typeface="Poppins Medium"/>
                <a:ea typeface="Poppins Medium"/>
                <a:cs typeface="Poppins Medium"/>
                <a:sym typeface="Poppins Medium"/>
              </a:rPr>
              <a:t>https://github.com/NNKhang21/OS_SCH_01-Group04</a:t>
            </a:r>
          </a:p>
        </p:txBody>
      </p:sp>
      <p:grpSp>
        <p:nvGrpSpPr>
          <p:cNvPr name="Group 20" id="20"/>
          <p:cNvGrpSpPr/>
          <p:nvPr/>
        </p:nvGrpSpPr>
        <p:grpSpPr>
          <a:xfrm rot="0">
            <a:off x="10422040" y="5223803"/>
            <a:ext cx="357065" cy="357065"/>
            <a:chOff x="0" y="0"/>
            <a:chExt cx="94042" cy="94042"/>
          </a:xfrm>
        </p:grpSpPr>
        <p:sp>
          <p:nvSpPr>
            <p:cNvPr name="Freeform 21" id="21"/>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22" id="22"/>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23" id="23"/>
          <p:cNvSpPr txBox="true"/>
          <p:nvPr/>
        </p:nvSpPr>
        <p:spPr>
          <a:xfrm rot="0">
            <a:off x="11267488" y="6769469"/>
            <a:ext cx="4357426"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Nguyễn Trình Thu Thủy</a:t>
            </a:r>
          </a:p>
        </p:txBody>
      </p:sp>
      <p:grpSp>
        <p:nvGrpSpPr>
          <p:cNvPr name="Group 24" id="24"/>
          <p:cNvGrpSpPr/>
          <p:nvPr/>
        </p:nvGrpSpPr>
        <p:grpSpPr>
          <a:xfrm rot="0">
            <a:off x="10422040" y="4385074"/>
            <a:ext cx="357065" cy="357065"/>
            <a:chOff x="0" y="0"/>
            <a:chExt cx="94042" cy="94042"/>
          </a:xfrm>
        </p:grpSpPr>
        <p:sp>
          <p:nvSpPr>
            <p:cNvPr name="Freeform 25" id="25"/>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26" id="26"/>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27" id="27"/>
          <p:cNvSpPr txBox="true"/>
          <p:nvPr/>
        </p:nvSpPr>
        <p:spPr>
          <a:xfrm rot="0">
            <a:off x="11267488" y="4346974"/>
            <a:ext cx="4357426" cy="75595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Nguyễn Nguyên Khang</a:t>
            </a:r>
          </a:p>
          <a:p>
            <a:pPr algn="l">
              <a:lnSpc>
                <a:spcPts val="2904"/>
              </a:lnSpc>
            </a:pPr>
          </a:p>
        </p:txBody>
      </p:sp>
      <p:grpSp>
        <p:nvGrpSpPr>
          <p:cNvPr name="Group 28" id="28"/>
          <p:cNvGrpSpPr/>
          <p:nvPr/>
        </p:nvGrpSpPr>
        <p:grpSpPr>
          <a:xfrm rot="0">
            <a:off x="10422040" y="6807569"/>
            <a:ext cx="357065" cy="357065"/>
            <a:chOff x="0" y="0"/>
            <a:chExt cx="94042" cy="94042"/>
          </a:xfrm>
        </p:grpSpPr>
        <p:sp>
          <p:nvSpPr>
            <p:cNvPr name="Freeform 29" id="29"/>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30" id="30"/>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31" id="31"/>
          <p:cNvSpPr txBox="true"/>
          <p:nvPr/>
        </p:nvSpPr>
        <p:spPr>
          <a:xfrm rot="0">
            <a:off x="11267488" y="6027380"/>
            <a:ext cx="4357426"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Nguyễn Hải Sơn</a:t>
            </a:r>
          </a:p>
        </p:txBody>
      </p:sp>
      <p:grpSp>
        <p:nvGrpSpPr>
          <p:cNvPr name="Group 32" id="32"/>
          <p:cNvGrpSpPr/>
          <p:nvPr/>
        </p:nvGrpSpPr>
        <p:grpSpPr>
          <a:xfrm rot="0">
            <a:off x="10422040" y="6066643"/>
            <a:ext cx="357065" cy="357065"/>
            <a:chOff x="0" y="0"/>
            <a:chExt cx="94042" cy="94042"/>
          </a:xfrm>
        </p:grpSpPr>
        <p:sp>
          <p:nvSpPr>
            <p:cNvPr name="Freeform 33" id="33"/>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34" id="34"/>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35" id="35"/>
          <p:cNvSpPr txBox="true"/>
          <p:nvPr/>
        </p:nvSpPr>
        <p:spPr>
          <a:xfrm rot="0">
            <a:off x="11267488" y="5185703"/>
            <a:ext cx="4357426"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Phạm Nguyễn Quốc Khánh</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grpSp>
        <p:nvGrpSpPr>
          <p:cNvPr name="Group 6" id="6"/>
          <p:cNvGrpSpPr/>
          <p:nvPr/>
        </p:nvGrpSpPr>
        <p:grpSpPr>
          <a:xfrm rot="0">
            <a:off x="1028700" y="3278564"/>
            <a:ext cx="3665794" cy="1193575"/>
            <a:chOff x="0" y="0"/>
            <a:chExt cx="965477" cy="314357"/>
          </a:xfrm>
        </p:grpSpPr>
        <p:sp>
          <p:nvSpPr>
            <p:cNvPr name="Freeform 7" id="7"/>
            <p:cNvSpPr/>
            <p:nvPr/>
          </p:nvSpPr>
          <p:spPr>
            <a:xfrm flipH="false" flipV="false" rot="0">
              <a:off x="0" y="0"/>
              <a:ext cx="965477" cy="314357"/>
            </a:xfrm>
            <a:custGeom>
              <a:avLst/>
              <a:gdLst/>
              <a:ahLst/>
              <a:cxnLst/>
              <a:rect r="r" b="b" t="t" l="l"/>
              <a:pathLst>
                <a:path h="314357" w="965477">
                  <a:moveTo>
                    <a:pt x="107709" y="0"/>
                  </a:moveTo>
                  <a:lnTo>
                    <a:pt x="857768" y="0"/>
                  </a:lnTo>
                  <a:cubicBezTo>
                    <a:pt x="917254" y="0"/>
                    <a:pt x="965477" y="48223"/>
                    <a:pt x="965477" y="107709"/>
                  </a:cubicBezTo>
                  <a:lnTo>
                    <a:pt x="965477" y="206649"/>
                  </a:lnTo>
                  <a:cubicBezTo>
                    <a:pt x="965477" y="266134"/>
                    <a:pt x="917254" y="314357"/>
                    <a:pt x="857768" y="314357"/>
                  </a:cubicBezTo>
                  <a:lnTo>
                    <a:pt x="107709" y="314357"/>
                  </a:lnTo>
                  <a:cubicBezTo>
                    <a:pt x="48223" y="314357"/>
                    <a:pt x="0" y="266134"/>
                    <a:pt x="0" y="206649"/>
                  </a:cubicBezTo>
                  <a:lnTo>
                    <a:pt x="0" y="107709"/>
                  </a:lnTo>
                  <a:cubicBezTo>
                    <a:pt x="0" y="48223"/>
                    <a:pt x="48223" y="0"/>
                    <a:pt x="107709" y="0"/>
                  </a:cubicBezTo>
                  <a:close/>
                </a:path>
              </a:pathLst>
            </a:custGeom>
            <a:solidFill>
              <a:srgbClr val="0097B2"/>
            </a:solidFill>
          </p:spPr>
        </p:sp>
        <p:sp>
          <p:nvSpPr>
            <p:cNvPr name="TextBox 8" id="8"/>
            <p:cNvSpPr txBox="true"/>
            <p:nvPr/>
          </p:nvSpPr>
          <p:spPr>
            <a:xfrm>
              <a:off x="0" y="-47625"/>
              <a:ext cx="965477" cy="361982"/>
            </a:xfrm>
            <a:prstGeom prst="rect">
              <a:avLst/>
            </a:prstGeom>
          </p:spPr>
          <p:txBody>
            <a:bodyPr anchor="ctr" rtlCol="false" tIns="50800" lIns="50800" bIns="50800" rIns="50800"/>
            <a:lstStyle/>
            <a:p>
              <a:pPr algn="ctr">
                <a:lnSpc>
                  <a:spcPts val="3783"/>
                </a:lnSpc>
              </a:pPr>
              <a:r>
                <a:rPr lang="en-US" sz="2702">
                  <a:solidFill>
                    <a:srgbClr val="FEFEFE"/>
                  </a:solidFill>
                  <a:latin typeface="Paytone One"/>
                  <a:ea typeface="Paytone One"/>
                  <a:cs typeface="Paytone One"/>
                  <a:sym typeface="Paytone One"/>
                </a:rPr>
                <a:t>Sản phẩm</a:t>
              </a:r>
            </a:p>
          </p:txBody>
        </p:sp>
      </p:grpSp>
      <p:grpSp>
        <p:nvGrpSpPr>
          <p:cNvPr name="Group 9" id="9"/>
          <p:cNvGrpSpPr/>
          <p:nvPr/>
        </p:nvGrpSpPr>
        <p:grpSpPr>
          <a:xfrm rot="0">
            <a:off x="1028700" y="4957914"/>
            <a:ext cx="3665794" cy="4300386"/>
            <a:chOff x="0" y="0"/>
            <a:chExt cx="965477" cy="1132612"/>
          </a:xfrm>
        </p:grpSpPr>
        <p:sp>
          <p:nvSpPr>
            <p:cNvPr name="Freeform 10" id="10"/>
            <p:cNvSpPr/>
            <p:nvPr/>
          </p:nvSpPr>
          <p:spPr>
            <a:xfrm flipH="false" flipV="false" rot="0">
              <a:off x="0" y="0"/>
              <a:ext cx="965477" cy="1132612"/>
            </a:xfrm>
            <a:custGeom>
              <a:avLst/>
              <a:gdLst/>
              <a:ahLst/>
              <a:cxnLst/>
              <a:rect r="r" b="b" t="t" l="l"/>
              <a:pathLst>
                <a:path h="1132612" w="965477">
                  <a:moveTo>
                    <a:pt x="107709" y="0"/>
                  </a:moveTo>
                  <a:lnTo>
                    <a:pt x="857768" y="0"/>
                  </a:lnTo>
                  <a:cubicBezTo>
                    <a:pt x="917254" y="0"/>
                    <a:pt x="965477" y="48223"/>
                    <a:pt x="965477" y="107709"/>
                  </a:cubicBezTo>
                  <a:lnTo>
                    <a:pt x="965477" y="1024903"/>
                  </a:lnTo>
                  <a:cubicBezTo>
                    <a:pt x="965477" y="1084389"/>
                    <a:pt x="917254" y="1132612"/>
                    <a:pt x="857768" y="1132612"/>
                  </a:cubicBezTo>
                  <a:lnTo>
                    <a:pt x="107709" y="1132612"/>
                  </a:lnTo>
                  <a:cubicBezTo>
                    <a:pt x="48223" y="1132612"/>
                    <a:pt x="0" y="1084389"/>
                    <a:pt x="0" y="1024903"/>
                  </a:cubicBezTo>
                  <a:lnTo>
                    <a:pt x="0" y="107709"/>
                  </a:lnTo>
                  <a:cubicBezTo>
                    <a:pt x="0" y="48223"/>
                    <a:pt x="48223" y="0"/>
                    <a:pt x="107709" y="0"/>
                  </a:cubicBezTo>
                  <a:close/>
                </a:path>
              </a:pathLst>
            </a:custGeom>
            <a:solidFill>
              <a:srgbClr val="FFFFFF"/>
            </a:solidFill>
          </p:spPr>
        </p:sp>
        <p:sp>
          <p:nvSpPr>
            <p:cNvPr name="TextBox 11" id="11"/>
            <p:cNvSpPr txBox="true"/>
            <p:nvPr/>
          </p:nvSpPr>
          <p:spPr>
            <a:xfrm>
              <a:off x="0" y="-38100"/>
              <a:ext cx="965477" cy="1170712"/>
            </a:xfrm>
            <a:prstGeom prst="rect">
              <a:avLst/>
            </a:prstGeom>
          </p:spPr>
          <p:txBody>
            <a:bodyPr anchor="ctr" rtlCol="false" tIns="50800" lIns="50800" bIns="50800" rIns="50800"/>
            <a:lstStyle/>
            <a:p>
              <a:pPr algn="just">
                <a:lnSpc>
                  <a:spcPts val="3083"/>
                </a:lnSpc>
              </a:pPr>
            </a:p>
          </p:txBody>
        </p:sp>
      </p:grpSp>
      <p:sp>
        <p:nvSpPr>
          <p:cNvPr name="TextBox 12" id="12"/>
          <p:cNvSpPr txBox="true"/>
          <p:nvPr/>
        </p:nvSpPr>
        <p:spPr>
          <a:xfrm rot="0">
            <a:off x="2924529" y="1311637"/>
            <a:ext cx="12438943" cy="1669471"/>
          </a:xfrm>
          <a:prstGeom prst="rect">
            <a:avLst/>
          </a:prstGeom>
        </p:spPr>
        <p:txBody>
          <a:bodyPr anchor="t" rtlCol="false" tIns="0" lIns="0" bIns="0" rIns="0">
            <a:spAutoFit/>
          </a:bodyPr>
          <a:lstStyle/>
          <a:p>
            <a:pPr algn="l">
              <a:lnSpc>
                <a:spcPts val="6470"/>
              </a:lnSpc>
            </a:pPr>
            <a:r>
              <a:rPr lang="en-US" sz="6221" b="true">
                <a:solidFill>
                  <a:srgbClr val="F0F7FE"/>
                </a:solidFill>
                <a:latin typeface="Faustina Bold"/>
                <a:ea typeface="Faustina Bold"/>
                <a:cs typeface="Faustina Bold"/>
                <a:sym typeface="Faustina Bold"/>
              </a:rPr>
              <a:t>GIỚI THIỆU VÀ TỔNG QUAN ĐỀ TÀI</a:t>
            </a:r>
          </a:p>
          <a:p>
            <a:pPr algn="l">
              <a:lnSpc>
                <a:spcPts val="6470"/>
              </a:lnSpc>
              <a:spcBef>
                <a:spcPct val="0"/>
              </a:spcBef>
            </a:pPr>
          </a:p>
        </p:txBody>
      </p:sp>
      <p:sp>
        <p:nvSpPr>
          <p:cNvPr name="TextBox 13" id="13"/>
          <p:cNvSpPr txBox="true"/>
          <p:nvPr/>
        </p:nvSpPr>
        <p:spPr>
          <a:xfrm rot="0">
            <a:off x="1178558" y="6042867"/>
            <a:ext cx="3366078" cy="2082856"/>
          </a:xfrm>
          <a:prstGeom prst="rect">
            <a:avLst/>
          </a:prstGeom>
        </p:spPr>
        <p:txBody>
          <a:bodyPr anchor="t" rtlCol="false" tIns="0" lIns="0" bIns="0" rIns="0">
            <a:spAutoFit/>
          </a:bodyPr>
          <a:lstStyle/>
          <a:p>
            <a:pPr algn="just">
              <a:lnSpc>
                <a:spcPts val="3321"/>
              </a:lnSpc>
              <a:spcBef>
                <a:spcPct val="0"/>
              </a:spcBef>
            </a:pPr>
            <a:r>
              <a:rPr lang="en-US" sz="2372">
                <a:solidFill>
                  <a:srgbClr val="000000"/>
                </a:solidFill>
                <a:latin typeface="Canva Sans"/>
                <a:ea typeface="Canva Sans"/>
                <a:cs typeface="Canva Sans"/>
                <a:sym typeface="Canva Sans"/>
              </a:rPr>
              <a:t>Ứng</a:t>
            </a:r>
            <a:r>
              <a:rPr lang="en-US" sz="2372">
                <a:solidFill>
                  <a:srgbClr val="000000"/>
                </a:solidFill>
                <a:latin typeface="Canva Sans"/>
                <a:ea typeface="Canva Sans"/>
                <a:cs typeface="Canva Sans"/>
                <a:sym typeface="Canva Sans"/>
              </a:rPr>
              <a:t> dụng mô phỏng các thuật toán lập lịch CPU chạy trên hệ điều hành Windows dưới dạng GUI desktop.</a:t>
            </a:r>
          </a:p>
        </p:txBody>
      </p:sp>
      <p:grpSp>
        <p:nvGrpSpPr>
          <p:cNvPr name="Group 14" id="14"/>
          <p:cNvGrpSpPr/>
          <p:nvPr/>
        </p:nvGrpSpPr>
        <p:grpSpPr>
          <a:xfrm rot="0">
            <a:off x="5196120" y="3278564"/>
            <a:ext cx="3665794" cy="1200667"/>
            <a:chOff x="0" y="0"/>
            <a:chExt cx="965477" cy="316225"/>
          </a:xfrm>
        </p:grpSpPr>
        <p:sp>
          <p:nvSpPr>
            <p:cNvPr name="Freeform 15" id="15"/>
            <p:cNvSpPr/>
            <p:nvPr/>
          </p:nvSpPr>
          <p:spPr>
            <a:xfrm flipH="false" flipV="false" rot="0">
              <a:off x="0" y="0"/>
              <a:ext cx="965477" cy="316225"/>
            </a:xfrm>
            <a:custGeom>
              <a:avLst/>
              <a:gdLst/>
              <a:ahLst/>
              <a:cxnLst/>
              <a:rect r="r" b="b" t="t" l="l"/>
              <a:pathLst>
                <a:path h="316225" w="965477">
                  <a:moveTo>
                    <a:pt x="107709" y="0"/>
                  </a:moveTo>
                  <a:lnTo>
                    <a:pt x="857768" y="0"/>
                  </a:lnTo>
                  <a:cubicBezTo>
                    <a:pt x="917254" y="0"/>
                    <a:pt x="965477" y="48223"/>
                    <a:pt x="965477" y="107709"/>
                  </a:cubicBezTo>
                  <a:lnTo>
                    <a:pt x="965477" y="208516"/>
                  </a:lnTo>
                  <a:cubicBezTo>
                    <a:pt x="965477" y="268002"/>
                    <a:pt x="917254" y="316225"/>
                    <a:pt x="857768" y="316225"/>
                  </a:cubicBezTo>
                  <a:lnTo>
                    <a:pt x="107709" y="316225"/>
                  </a:lnTo>
                  <a:cubicBezTo>
                    <a:pt x="48223" y="316225"/>
                    <a:pt x="0" y="268002"/>
                    <a:pt x="0" y="208516"/>
                  </a:cubicBezTo>
                  <a:lnTo>
                    <a:pt x="0" y="107709"/>
                  </a:lnTo>
                  <a:cubicBezTo>
                    <a:pt x="0" y="48223"/>
                    <a:pt x="48223" y="0"/>
                    <a:pt x="107709" y="0"/>
                  </a:cubicBezTo>
                  <a:close/>
                </a:path>
              </a:pathLst>
            </a:custGeom>
            <a:solidFill>
              <a:srgbClr val="0CC0DF"/>
            </a:solidFill>
          </p:spPr>
        </p:sp>
        <p:sp>
          <p:nvSpPr>
            <p:cNvPr name="TextBox 16" id="16"/>
            <p:cNvSpPr txBox="true"/>
            <p:nvPr/>
          </p:nvSpPr>
          <p:spPr>
            <a:xfrm>
              <a:off x="0" y="-47625"/>
              <a:ext cx="965477" cy="363850"/>
            </a:xfrm>
            <a:prstGeom prst="rect">
              <a:avLst/>
            </a:prstGeom>
          </p:spPr>
          <p:txBody>
            <a:bodyPr anchor="ctr" rtlCol="false" tIns="50800" lIns="50800" bIns="50800" rIns="50800"/>
            <a:lstStyle/>
            <a:p>
              <a:pPr algn="ctr">
                <a:lnSpc>
                  <a:spcPts val="3783"/>
                </a:lnSpc>
              </a:pPr>
              <a:r>
                <a:rPr lang="en-US" sz="2702">
                  <a:solidFill>
                    <a:srgbClr val="FEFEFE"/>
                  </a:solidFill>
                  <a:latin typeface="Paytone One"/>
                  <a:ea typeface="Paytone One"/>
                  <a:cs typeface="Paytone One"/>
                  <a:sym typeface="Paytone One"/>
                </a:rPr>
                <a:t>Thuật toán mô phỏng</a:t>
              </a:r>
            </a:p>
          </p:txBody>
        </p:sp>
      </p:grpSp>
      <p:grpSp>
        <p:nvGrpSpPr>
          <p:cNvPr name="Group 17" id="17"/>
          <p:cNvGrpSpPr/>
          <p:nvPr/>
        </p:nvGrpSpPr>
        <p:grpSpPr>
          <a:xfrm rot="0">
            <a:off x="5196120" y="4957914"/>
            <a:ext cx="3665794" cy="4300386"/>
            <a:chOff x="0" y="0"/>
            <a:chExt cx="965477" cy="1132612"/>
          </a:xfrm>
        </p:grpSpPr>
        <p:sp>
          <p:nvSpPr>
            <p:cNvPr name="Freeform 18" id="18"/>
            <p:cNvSpPr/>
            <p:nvPr/>
          </p:nvSpPr>
          <p:spPr>
            <a:xfrm flipH="false" flipV="false" rot="0">
              <a:off x="0" y="0"/>
              <a:ext cx="965477" cy="1132612"/>
            </a:xfrm>
            <a:custGeom>
              <a:avLst/>
              <a:gdLst/>
              <a:ahLst/>
              <a:cxnLst/>
              <a:rect r="r" b="b" t="t" l="l"/>
              <a:pathLst>
                <a:path h="1132612" w="965477">
                  <a:moveTo>
                    <a:pt x="107709" y="0"/>
                  </a:moveTo>
                  <a:lnTo>
                    <a:pt x="857768" y="0"/>
                  </a:lnTo>
                  <a:cubicBezTo>
                    <a:pt x="917254" y="0"/>
                    <a:pt x="965477" y="48223"/>
                    <a:pt x="965477" y="107709"/>
                  </a:cubicBezTo>
                  <a:lnTo>
                    <a:pt x="965477" y="1024903"/>
                  </a:lnTo>
                  <a:cubicBezTo>
                    <a:pt x="965477" y="1084389"/>
                    <a:pt x="917254" y="1132612"/>
                    <a:pt x="857768" y="1132612"/>
                  </a:cubicBezTo>
                  <a:lnTo>
                    <a:pt x="107709" y="1132612"/>
                  </a:lnTo>
                  <a:cubicBezTo>
                    <a:pt x="48223" y="1132612"/>
                    <a:pt x="0" y="1084389"/>
                    <a:pt x="0" y="1024903"/>
                  </a:cubicBezTo>
                  <a:lnTo>
                    <a:pt x="0" y="107709"/>
                  </a:lnTo>
                  <a:cubicBezTo>
                    <a:pt x="0" y="48223"/>
                    <a:pt x="48223" y="0"/>
                    <a:pt x="107709" y="0"/>
                  </a:cubicBezTo>
                  <a:close/>
                </a:path>
              </a:pathLst>
            </a:custGeom>
            <a:solidFill>
              <a:srgbClr val="FFFFFF"/>
            </a:solidFill>
          </p:spPr>
        </p:sp>
        <p:sp>
          <p:nvSpPr>
            <p:cNvPr name="TextBox 19" id="19"/>
            <p:cNvSpPr txBox="true"/>
            <p:nvPr/>
          </p:nvSpPr>
          <p:spPr>
            <a:xfrm>
              <a:off x="0" y="-38100"/>
              <a:ext cx="965477" cy="1170712"/>
            </a:xfrm>
            <a:prstGeom prst="rect">
              <a:avLst/>
            </a:prstGeom>
          </p:spPr>
          <p:txBody>
            <a:bodyPr anchor="ctr" rtlCol="false" tIns="50800" lIns="50800" bIns="50800" rIns="50800"/>
            <a:lstStyle/>
            <a:p>
              <a:pPr algn="just">
                <a:lnSpc>
                  <a:spcPts val="3083"/>
                </a:lnSpc>
              </a:pPr>
            </a:p>
          </p:txBody>
        </p:sp>
      </p:grpSp>
      <p:sp>
        <p:nvSpPr>
          <p:cNvPr name="TextBox 20" id="20"/>
          <p:cNvSpPr txBox="true"/>
          <p:nvPr/>
        </p:nvSpPr>
        <p:spPr>
          <a:xfrm rot="0">
            <a:off x="5345978" y="6461967"/>
            <a:ext cx="3366078" cy="1244656"/>
          </a:xfrm>
          <a:prstGeom prst="rect">
            <a:avLst/>
          </a:prstGeom>
        </p:spPr>
        <p:txBody>
          <a:bodyPr anchor="t" rtlCol="false" tIns="0" lIns="0" bIns="0" rIns="0">
            <a:spAutoFit/>
          </a:bodyPr>
          <a:lstStyle/>
          <a:p>
            <a:pPr algn="just">
              <a:lnSpc>
                <a:spcPts val="3321"/>
              </a:lnSpc>
              <a:spcBef>
                <a:spcPct val="0"/>
              </a:spcBef>
            </a:pPr>
            <a:r>
              <a:rPr lang="en-US" sz="2372">
                <a:solidFill>
                  <a:srgbClr val="000000"/>
                </a:solidFill>
                <a:latin typeface="Canva Sans"/>
                <a:ea typeface="Canva Sans"/>
                <a:cs typeface="Canva Sans"/>
                <a:sym typeface="Canva Sans"/>
              </a:rPr>
              <a:t>Tập</a:t>
            </a:r>
            <a:r>
              <a:rPr lang="en-US" sz="2372">
                <a:solidFill>
                  <a:srgbClr val="000000"/>
                </a:solidFill>
                <a:latin typeface="Canva Sans"/>
                <a:ea typeface="Canva Sans"/>
                <a:cs typeface="Canva Sans"/>
                <a:sym typeface="Canva Sans"/>
              </a:rPr>
              <a:t> trung vào hai thuật toán cơ bản là FCFS  và SJF Non-Preemptive .</a:t>
            </a:r>
          </a:p>
        </p:txBody>
      </p:sp>
      <p:grpSp>
        <p:nvGrpSpPr>
          <p:cNvPr name="Group 21" id="21"/>
          <p:cNvGrpSpPr/>
          <p:nvPr/>
        </p:nvGrpSpPr>
        <p:grpSpPr>
          <a:xfrm rot="0">
            <a:off x="9509614" y="3278564"/>
            <a:ext cx="3665794" cy="1193575"/>
            <a:chOff x="0" y="0"/>
            <a:chExt cx="965477" cy="314357"/>
          </a:xfrm>
        </p:grpSpPr>
        <p:sp>
          <p:nvSpPr>
            <p:cNvPr name="Freeform 22" id="22"/>
            <p:cNvSpPr/>
            <p:nvPr/>
          </p:nvSpPr>
          <p:spPr>
            <a:xfrm flipH="false" flipV="false" rot="0">
              <a:off x="0" y="0"/>
              <a:ext cx="965477" cy="314357"/>
            </a:xfrm>
            <a:custGeom>
              <a:avLst/>
              <a:gdLst/>
              <a:ahLst/>
              <a:cxnLst/>
              <a:rect r="r" b="b" t="t" l="l"/>
              <a:pathLst>
                <a:path h="314357" w="965477">
                  <a:moveTo>
                    <a:pt x="107709" y="0"/>
                  </a:moveTo>
                  <a:lnTo>
                    <a:pt x="857768" y="0"/>
                  </a:lnTo>
                  <a:cubicBezTo>
                    <a:pt x="917254" y="0"/>
                    <a:pt x="965477" y="48223"/>
                    <a:pt x="965477" y="107709"/>
                  </a:cubicBezTo>
                  <a:lnTo>
                    <a:pt x="965477" y="206649"/>
                  </a:lnTo>
                  <a:cubicBezTo>
                    <a:pt x="965477" y="266134"/>
                    <a:pt x="917254" y="314357"/>
                    <a:pt x="857768" y="314357"/>
                  </a:cubicBezTo>
                  <a:lnTo>
                    <a:pt x="107709" y="314357"/>
                  </a:lnTo>
                  <a:cubicBezTo>
                    <a:pt x="48223" y="314357"/>
                    <a:pt x="0" y="266134"/>
                    <a:pt x="0" y="206649"/>
                  </a:cubicBezTo>
                  <a:lnTo>
                    <a:pt x="0" y="107709"/>
                  </a:lnTo>
                  <a:cubicBezTo>
                    <a:pt x="0" y="48223"/>
                    <a:pt x="48223" y="0"/>
                    <a:pt x="107709" y="0"/>
                  </a:cubicBezTo>
                  <a:close/>
                </a:path>
              </a:pathLst>
            </a:custGeom>
            <a:solidFill>
              <a:srgbClr val="5CE1E6"/>
            </a:solidFill>
          </p:spPr>
        </p:sp>
        <p:sp>
          <p:nvSpPr>
            <p:cNvPr name="TextBox 23" id="23"/>
            <p:cNvSpPr txBox="true"/>
            <p:nvPr/>
          </p:nvSpPr>
          <p:spPr>
            <a:xfrm>
              <a:off x="0" y="-47625"/>
              <a:ext cx="965477" cy="361982"/>
            </a:xfrm>
            <a:prstGeom prst="rect">
              <a:avLst/>
            </a:prstGeom>
          </p:spPr>
          <p:txBody>
            <a:bodyPr anchor="ctr" rtlCol="false" tIns="50800" lIns="50800" bIns="50800" rIns="50800"/>
            <a:lstStyle/>
            <a:p>
              <a:pPr algn="ctr">
                <a:lnSpc>
                  <a:spcPts val="3783"/>
                </a:lnSpc>
              </a:pPr>
              <a:r>
                <a:rPr lang="en-US" sz="2702">
                  <a:solidFill>
                    <a:srgbClr val="FFFFFF"/>
                  </a:solidFill>
                  <a:latin typeface="Paytone One"/>
                  <a:ea typeface="Paytone One"/>
                  <a:cs typeface="Paytone One"/>
                  <a:sym typeface="Paytone One"/>
                </a:rPr>
                <a:t>Tính chất cốt lõi</a:t>
              </a:r>
            </a:p>
          </p:txBody>
        </p:sp>
      </p:grpSp>
      <p:grpSp>
        <p:nvGrpSpPr>
          <p:cNvPr name="Group 24" id="24"/>
          <p:cNvGrpSpPr/>
          <p:nvPr/>
        </p:nvGrpSpPr>
        <p:grpSpPr>
          <a:xfrm rot="0">
            <a:off x="9509614" y="4957914"/>
            <a:ext cx="3665794" cy="4300386"/>
            <a:chOff x="0" y="0"/>
            <a:chExt cx="965477" cy="1132612"/>
          </a:xfrm>
        </p:grpSpPr>
        <p:sp>
          <p:nvSpPr>
            <p:cNvPr name="Freeform 25" id="25"/>
            <p:cNvSpPr/>
            <p:nvPr/>
          </p:nvSpPr>
          <p:spPr>
            <a:xfrm flipH="false" flipV="false" rot="0">
              <a:off x="0" y="0"/>
              <a:ext cx="965477" cy="1132612"/>
            </a:xfrm>
            <a:custGeom>
              <a:avLst/>
              <a:gdLst/>
              <a:ahLst/>
              <a:cxnLst/>
              <a:rect r="r" b="b" t="t" l="l"/>
              <a:pathLst>
                <a:path h="1132612" w="965477">
                  <a:moveTo>
                    <a:pt x="107709" y="0"/>
                  </a:moveTo>
                  <a:lnTo>
                    <a:pt x="857768" y="0"/>
                  </a:lnTo>
                  <a:cubicBezTo>
                    <a:pt x="917254" y="0"/>
                    <a:pt x="965477" y="48223"/>
                    <a:pt x="965477" y="107709"/>
                  </a:cubicBezTo>
                  <a:lnTo>
                    <a:pt x="965477" y="1024903"/>
                  </a:lnTo>
                  <a:cubicBezTo>
                    <a:pt x="965477" y="1084389"/>
                    <a:pt x="917254" y="1132612"/>
                    <a:pt x="857768" y="1132612"/>
                  </a:cubicBezTo>
                  <a:lnTo>
                    <a:pt x="107709" y="1132612"/>
                  </a:lnTo>
                  <a:cubicBezTo>
                    <a:pt x="48223" y="1132612"/>
                    <a:pt x="0" y="1084389"/>
                    <a:pt x="0" y="1024903"/>
                  </a:cubicBezTo>
                  <a:lnTo>
                    <a:pt x="0" y="107709"/>
                  </a:lnTo>
                  <a:cubicBezTo>
                    <a:pt x="0" y="48223"/>
                    <a:pt x="48223" y="0"/>
                    <a:pt x="107709" y="0"/>
                  </a:cubicBezTo>
                  <a:close/>
                </a:path>
              </a:pathLst>
            </a:custGeom>
            <a:solidFill>
              <a:srgbClr val="FFFFFF"/>
            </a:solidFill>
          </p:spPr>
        </p:sp>
        <p:sp>
          <p:nvSpPr>
            <p:cNvPr name="TextBox 26" id="26"/>
            <p:cNvSpPr txBox="true"/>
            <p:nvPr/>
          </p:nvSpPr>
          <p:spPr>
            <a:xfrm>
              <a:off x="0" y="-38100"/>
              <a:ext cx="965477" cy="1170712"/>
            </a:xfrm>
            <a:prstGeom prst="rect">
              <a:avLst/>
            </a:prstGeom>
          </p:spPr>
          <p:txBody>
            <a:bodyPr anchor="ctr" rtlCol="false" tIns="50800" lIns="50800" bIns="50800" rIns="50800"/>
            <a:lstStyle/>
            <a:p>
              <a:pPr algn="just">
                <a:lnSpc>
                  <a:spcPts val="3083"/>
                </a:lnSpc>
              </a:pPr>
            </a:p>
          </p:txBody>
        </p:sp>
      </p:grpSp>
      <p:sp>
        <p:nvSpPr>
          <p:cNvPr name="TextBox 27" id="27"/>
          <p:cNvSpPr txBox="true"/>
          <p:nvPr/>
        </p:nvSpPr>
        <p:spPr>
          <a:xfrm rot="0">
            <a:off x="9659472" y="6252417"/>
            <a:ext cx="3366078" cy="1663756"/>
          </a:xfrm>
          <a:prstGeom prst="rect">
            <a:avLst/>
          </a:prstGeom>
        </p:spPr>
        <p:txBody>
          <a:bodyPr anchor="t" rtlCol="false" tIns="0" lIns="0" bIns="0" rIns="0">
            <a:spAutoFit/>
          </a:bodyPr>
          <a:lstStyle/>
          <a:p>
            <a:pPr algn="just">
              <a:lnSpc>
                <a:spcPts val="3321"/>
              </a:lnSpc>
              <a:spcBef>
                <a:spcPct val="0"/>
              </a:spcBef>
            </a:pPr>
            <a:r>
              <a:rPr lang="en-US" sz="2372">
                <a:solidFill>
                  <a:srgbClr val="000000"/>
                </a:solidFill>
                <a:latin typeface="Canva Sans"/>
                <a:ea typeface="Canva Sans"/>
                <a:cs typeface="Canva Sans"/>
                <a:sym typeface="Canva Sans"/>
              </a:rPr>
              <a:t>Cả</a:t>
            </a:r>
            <a:r>
              <a:rPr lang="en-US" sz="2372">
                <a:solidFill>
                  <a:srgbClr val="000000"/>
                </a:solidFill>
                <a:latin typeface="Canva Sans"/>
                <a:ea typeface="Canva Sans"/>
                <a:cs typeface="Canva Sans"/>
                <a:sym typeface="Canva Sans"/>
              </a:rPr>
              <a:t> hai thuật toán đều hoạt động theo cơ chế không ngắt giữa chừng (Non-Preemptive).</a:t>
            </a:r>
          </a:p>
        </p:txBody>
      </p:sp>
      <p:grpSp>
        <p:nvGrpSpPr>
          <p:cNvPr name="Group 28" id="28"/>
          <p:cNvGrpSpPr/>
          <p:nvPr/>
        </p:nvGrpSpPr>
        <p:grpSpPr>
          <a:xfrm rot="0">
            <a:off x="13975509" y="3278564"/>
            <a:ext cx="3665794" cy="1193575"/>
            <a:chOff x="0" y="0"/>
            <a:chExt cx="965477" cy="314357"/>
          </a:xfrm>
        </p:grpSpPr>
        <p:sp>
          <p:nvSpPr>
            <p:cNvPr name="Freeform 29" id="29"/>
            <p:cNvSpPr/>
            <p:nvPr/>
          </p:nvSpPr>
          <p:spPr>
            <a:xfrm flipH="false" flipV="false" rot="0">
              <a:off x="0" y="0"/>
              <a:ext cx="965477" cy="314357"/>
            </a:xfrm>
            <a:custGeom>
              <a:avLst/>
              <a:gdLst/>
              <a:ahLst/>
              <a:cxnLst/>
              <a:rect r="r" b="b" t="t" l="l"/>
              <a:pathLst>
                <a:path h="314357" w="965477">
                  <a:moveTo>
                    <a:pt x="107709" y="0"/>
                  </a:moveTo>
                  <a:lnTo>
                    <a:pt x="857768" y="0"/>
                  </a:lnTo>
                  <a:cubicBezTo>
                    <a:pt x="917254" y="0"/>
                    <a:pt x="965477" y="48223"/>
                    <a:pt x="965477" y="107709"/>
                  </a:cubicBezTo>
                  <a:lnTo>
                    <a:pt x="965477" y="206649"/>
                  </a:lnTo>
                  <a:cubicBezTo>
                    <a:pt x="965477" y="266134"/>
                    <a:pt x="917254" y="314357"/>
                    <a:pt x="857768" y="314357"/>
                  </a:cubicBezTo>
                  <a:lnTo>
                    <a:pt x="107709" y="314357"/>
                  </a:lnTo>
                  <a:cubicBezTo>
                    <a:pt x="48223" y="314357"/>
                    <a:pt x="0" y="266134"/>
                    <a:pt x="0" y="206649"/>
                  </a:cubicBezTo>
                  <a:lnTo>
                    <a:pt x="0" y="107709"/>
                  </a:lnTo>
                  <a:cubicBezTo>
                    <a:pt x="0" y="48223"/>
                    <a:pt x="48223" y="0"/>
                    <a:pt x="107709" y="0"/>
                  </a:cubicBezTo>
                  <a:close/>
                </a:path>
              </a:pathLst>
            </a:custGeom>
            <a:solidFill>
              <a:srgbClr val="38B6FF"/>
            </a:solidFill>
          </p:spPr>
        </p:sp>
        <p:sp>
          <p:nvSpPr>
            <p:cNvPr name="TextBox 30" id="30"/>
            <p:cNvSpPr txBox="true"/>
            <p:nvPr/>
          </p:nvSpPr>
          <p:spPr>
            <a:xfrm>
              <a:off x="0" y="-47625"/>
              <a:ext cx="965477" cy="361982"/>
            </a:xfrm>
            <a:prstGeom prst="rect">
              <a:avLst/>
            </a:prstGeom>
          </p:spPr>
          <p:txBody>
            <a:bodyPr anchor="ctr" rtlCol="false" tIns="50800" lIns="50800" bIns="50800" rIns="50800"/>
            <a:lstStyle/>
            <a:p>
              <a:pPr algn="ctr">
                <a:lnSpc>
                  <a:spcPts val="3783"/>
                </a:lnSpc>
              </a:pPr>
              <a:r>
                <a:rPr lang="en-US" sz="2702">
                  <a:solidFill>
                    <a:srgbClr val="FFFFFF"/>
                  </a:solidFill>
                  <a:latin typeface="Paytone One"/>
                  <a:ea typeface="Paytone One"/>
                  <a:cs typeface="Paytone One"/>
                  <a:sym typeface="Paytone One"/>
                </a:rPr>
                <a:t>Độ chính xác</a:t>
              </a:r>
            </a:p>
          </p:txBody>
        </p:sp>
      </p:grpSp>
      <p:grpSp>
        <p:nvGrpSpPr>
          <p:cNvPr name="Group 31" id="31"/>
          <p:cNvGrpSpPr/>
          <p:nvPr/>
        </p:nvGrpSpPr>
        <p:grpSpPr>
          <a:xfrm rot="0">
            <a:off x="13975509" y="4957914"/>
            <a:ext cx="3665794" cy="4300386"/>
            <a:chOff x="0" y="0"/>
            <a:chExt cx="965477" cy="1132612"/>
          </a:xfrm>
        </p:grpSpPr>
        <p:sp>
          <p:nvSpPr>
            <p:cNvPr name="Freeform 32" id="32"/>
            <p:cNvSpPr/>
            <p:nvPr/>
          </p:nvSpPr>
          <p:spPr>
            <a:xfrm flipH="false" flipV="false" rot="0">
              <a:off x="0" y="0"/>
              <a:ext cx="965477" cy="1132612"/>
            </a:xfrm>
            <a:custGeom>
              <a:avLst/>
              <a:gdLst/>
              <a:ahLst/>
              <a:cxnLst/>
              <a:rect r="r" b="b" t="t" l="l"/>
              <a:pathLst>
                <a:path h="1132612" w="965477">
                  <a:moveTo>
                    <a:pt x="107709" y="0"/>
                  </a:moveTo>
                  <a:lnTo>
                    <a:pt x="857768" y="0"/>
                  </a:lnTo>
                  <a:cubicBezTo>
                    <a:pt x="917254" y="0"/>
                    <a:pt x="965477" y="48223"/>
                    <a:pt x="965477" y="107709"/>
                  </a:cubicBezTo>
                  <a:lnTo>
                    <a:pt x="965477" y="1024903"/>
                  </a:lnTo>
                  <a:cubicBezTo>
                    <a:pt x="965477" y="1084389"/>
                    <a:pt x="917254" y="1132612"/>
                    <a:pt x="857768" y="1132612"/>
                  </a:cubicBezTo>
                  <a:lnTo>
                    <a:pt x="107709" y="1132612"/>
                  </a:lnTo>
                  <a:cubicBezTo>
                    <a:pt x="48223" y="1132612"/>
                    <a:pt x="0" y="1084389"/>
                    <a:pt x="0" y="1024903"/>
                  </a:cubicBezTo>
                  <a:lnTo>
                    <a:pt x="0" y="107709"/>
                  </a:lnTo>
                  <a:cubicBezTo>
                    <a:pt x="0" y="48223"/>
                    <a:pt x="48223" y="0"/>
                    <a:pt x="107709" y="0"/>
                  </a:cubicBezTo>
                  <a:close/>
                </a:path>
              </a:pathLst>
            </a:custGeom>
            <a:solidFill>
              <a:srgbClr val="FFFFFF"/>
            </a:solidFill>
          </p:spPr>
        </p:sp>
        <p:sp>
          <p:nvSpPr>
            <p:cNvPr name="TextBox 33" id="33"/>
            <p:cNvSpPr txBox="true"/>
            <p:nvPr/>
          </p:nvSpPr>
          <p:spPr>
            <a:xfrm>
              <a:off x="0" y="-38100"/>
              <a:ext cx="965477" cy="1170712"/>
            </a:xfrm>
            <a:prstGeom prst="rect">
              <a:avLst/>
            </a:prstGeom>
          </p:spPr>
          <p:txBody>
            <a:bodyPr anchor="ctr" rtlCol="false" tIns="50800" lIns="50800" bIns="50800" rIns="50800"/>
            <a:lstStyle/>
            <a:p>
              <a:pPr algn="just">
                <a:lnSpc>
                  <a:spcPts val="3083"/>
                </a:lnSpc>
              </a:pPr>
            </a:p>
          </p:txBody>
        </p:sp>
      </p:grpSp>
      <p:sp>
        <p:nvSpPr>
          <p:cNvPr name="TextBox 34" id="34"/>
          <p:cNvSpPr txBox="true"/>
          <p:nvPr/>
        </p:nvSpPr>
        <p:spPr>
          <a:xfrm rot="0">
            <a:off x="14125367" y="5833317"/>
            <a:ext cx="3366078" cy="2501956"/>
          </a:xfrm>
          <a:prstGeom prst="rect">
            <a:avLst/>
          </a:prstGeom>
        </p:spPr>
        <p:txBody>
          <a:bodyPr anchor="t" rtlCol="false" tIns="0" lIns="0" bIns="0" rIns="0">
            <a:spAutoFit/>
          </a:bodyPr>
          <a:lstStyle/>
          <a:p>
            <a:pPr algn="just">
              <a:lnSpc>
                <a:spcPts val="3321"/>
              </a:lnSpc>
              <a:spcBef>
                <a:spcPct val="0"/>
              </a:spcBef>
            </a:pPr>
            <a:r>
              <a:rPr lang="en-US" sz="2372">
                <a:solidFill>
                  <a:srgbClr val="000000"/>
                </a:solidFill>
                <a:latin typeface="Canva Sans"/>
                <a:ea typeface="Canva Sans"/>
                <a:cs typeface="Canva Sans"/>
                <a:sym typeface="Canva Sans"/>
              </a:rPr>
              <a:t>Thuật toán được xây dựng và đối chiếu theo các ví dụ trong cuốn Silberschatz Operating System Concept(10th Edition)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sp>
        <p:nvSpPr>
          <p:cNvPr name="TextBox 6" id="6"/>
          <p:cNvSpPr txBox="true"/>
          <p:nvPr/>
        </p:nvSpPr>
        <p:spPr>
          <a:xfrm rot="0">
            <a:off x="5211229" y="1271577"/>
            <a:ext cx="7865543" cy="850321"/>
          </a:xfrm>
          <a:prstGeom prst="rect">
            <a:avLst/>
          </a:prstGeom>
        </p:spPr>
        <p:txBody>
          <a:bodyPr anchor="t" rtlCol="false" tIns="0" lIns="0" bIns="0" rIns="0">
            <a:spAutoFit/>
          </a:bodyPr>
          <a:lstStyle/>
          <a:p>
            <a:pPr algn="l">
              <a:lnSpc>
                <a:spcPts val="6470"/>
              </a:lnSpc>
              <a:spcBef>
                <a:spcPct val="0"/>
              </a:spcBef>
            </a:pPr>
            <a:r>
              <a:rPr lang="en-US" b="true" sz="6221">
                <a:solidFill>
                  <a:srgbClr val="F0F7FE"/>
                </a:solidFill>
                <a:latin typeface="Faustina Bold"/>
                <a:ea typeface="Faustina Bold"/>
                <a:cs typeface="Faustina Bold"/>
                <a:sym typeface="Faustina Bold"/>
              </a:rPr>
              <a:t>MỤC TIÊU CỦA ĐỀ TÀI</a:t>
            </a:r>
          </a:p>
        </p:txBody>
      </p:sp>
      <p:grpSp>
        <p:nvGrpSpPr>
          <p:cNvPr name="Group 7" id="7"/>
          <p:cNvGrpSpPr/>
          <p:nvPr/>
        </p:nvGrpSpPr>
        <p:grpSpPr>
          <a:xfrm rot="0">
            <a:off x="145438" y="2489305"/>
            <a:ext cx="17963339" cy="7648088"/>
            <a:chOff x="0" y="0"/>
            <a:chExt cx="29194276" cy="12429783"/>
          </a:xfrm>
        </p:grpSpPr>
        <p:sp>
          <p:nvSpPr>
            <p:cNvPr name="Freeform 8" id="8"/>
            <p:cNvSpPr/>
            <p:nvPr/>
          </p:nvSpPr>
          <p:spPr>
            <a:xfrm flipH="false" flipV="false" rot="0">
              <a:off x="0" y="0"/>
              <a:ext cx="29194277" cy="12328183"/>
            </a:xfrm>
            <a:custGeom>
              <a:avLst/>
              <a:gdLst/>
              <a:ahLst/>
              <a:cxnLst/>
              <a:rect r="r" b="b" t="t" l="l"/>
              <a:pathLst>
                <a:path h="12328183" w="29194277">
                  <a:moveTo>
                    <a:pt x="0" y="0"/>
                  </a:moveTo>
                  <a:lnTo>
                    <a:pt x="29194277" y="0"/>
                  </a:lnTo>
                  <a:lnTo>
                    <a:pt x="29194277" y="12328183"/>
                  </a:lnTo>
                  <a:lnTo>
                    <a:pt x="0" y="12328183"/>
                  </a:lnTo>
                  <a:close/>
                </a:path>
              </a:pathLst>
            </a:custGeom>
            <a:gradFill rotWithShape="true">
              <a:gsLst>
                <a:gs pos="0">
                  <a:srgbClr val="CDFFD8">
                    <a:alpha val="100000"/>
                  </a:srgbClr>
                </a:gs>
                <a:gs pos="100000">
                  <a:srgbClr val="94B9FF">
                    <a:alpha val="100000"/>
                  </a:srgbClr>
                </a:gs>
              </a:gsLst>
              <a:lin ang="0"/>
            </a:gradFill>
          </p:spPr>
        </p:sp>
        <p:sp>
          <p:nvSpPr>
            <p:cNvPr name="Freeform 9" id="9"/>
            <p:cNvSpPr/>
            <p:nvPr/>
          </p:nvSpPr>
          <p:spPr>
            <a:xfrm flipH="false" flipV="false" rot="0">
              <a:off x="0" y="0"/>
              <a:ext cx="29194277" cy="12429783"/>
            </a:xfrm>
            <a:custGeom>
              <a:avLst/>
              <a:gdLst/>
              <a:ahLst/>
              <a:cxnLst/>
              <a:rect r="r" b="b" t="t" l="l"/>
              <a:pathLst>
                <a:path h="12429783" w="29194277">
                  <a:moveTo>
                    <a:pt x="0" y="12328183"/>
                  </a:moveTo>
                  <a:lnTo>
                    <a:pt x="29194277" y="12328183"/>
                  </a:lnTo>
                  <a:lnTo>
                    <a:pt x="29067277" y="12429783"/>
                  </a:lnTo>
                  <a:cubicBezTo>
                    <a:pt x="29067277" y="12429783"/>
                    <a:pt x="28076677" y="12353583"/>
                    <a:pt x="27975077" y="12353583"/>
                  </a:cubicBezTo>
                  <a:lnTo>
                    <a:pt x="1219200" y="12353583"/>
                  </a:lnTo>
                  <a:cubicBezTo>
                    <a:pt x="1117600" y="12353583"/>
                    <a:pt x="127000" y="12429783"/>
                    <a:pt x="127000" y="12429783"/>
                  </a:cubicBezTo>
                  <a:lnTo>
                    <a:pt x="0" y="12328183"/>
                  </a:lnTo>
                  <a:lnTo>
                    <a:pt x="0" y="0"/>
                  </a:lnTo>
                  <a:lnTo>
                    <a:pt x="29194277" y="0"/>
                  </a:lnTo>
                  <a:lnTo>
                    <a:pt x="29194277" y="12328183"/>
                  </a:lnTo>
                  <a:lnTo>
                    <a:pt x="12700" y="12328183"/>
                  </a:lnTo>
                  <a:lnTo>
                    <a:pt x="12700" y="12315483"/>
                  </a:lnTo>
                  <a:lnTo>
                    <a:pt x="29181577" y="12315483"/>
                  </a:lnTo>
                  <a:lnTo>
                    <a:pt x="29181577" y="12700"/>
                  </a:lnTo>
                  <a:lnTo>
                    <a:pt x="12700" y="12700"/>
                  </a:lnTo>
                  <a:lnTo>
                    <a:pt x="12700" y="12328183"/>
                  </a:lnTo>
                </a:path>
              </a:pathLst>
            </a:custGeom>
            <a:solidFill>
              <a:srgbClr val="394C60">
                <a:alpha val="784"/>
              </a:srgbClr>
            </a:solidFill>
          </p:spPr>
        </p:sp>
        <p:sp>
          <p:nvSpPr>
            <p:cNvPr name="TextBox 10" id="10"/>
            <p:cNvSpPr txBox="true"/>
            <p:nvPr/>
          </p:nvSpPr>
          <p:spPr>
            <a:xfrm>
              <a:off x="0" y="-76200"/>
              <a:ext cx="29194276" cy="12404383"/>
            </a:xfrm>
            <a:prstGeom prst="rect">
              <a:avLst/>
            </a:prstGeom>
          </p:spPr>
          <p:txBody>
            <a:bodyPr anchor="t" rtlCol="false" tIns="166706" lIns="166706" bIns="166706" rIns="166706"/>
            <a:lstStyle/>
            <a:p>
              <a:pPr algn="l" marL="653113" indent="-326557" lvl="1">
                <a:lnSpc>
                  <a:spcPts val="4235"/>
                </a:lnSpc>
                <a:buFont typeface="Arial"/>
                <a:buChar char="•"/>
              </a:pPr>
              <a:r>
                <a:rPr lang="en-US" b="true" sz="3025">
                  <a:solidFill>
                    <a:srgbClr val="000000"/>
                  </a:solidFill>
                  <a:latin typeface="Arial Bold"/>
                  <a:ea typeface="Arial Bold"/>
                  <a:cs typeface="Arial Bold"/>
                  <a:sym typeface="Arial Bold"/>
                </a:rPr>
                <a:t>Xây dựng giao diện trực quan:</a:t>
              </a:r>
              <a:r>
                <a:rPr lang="en-US" sz="3025">
                  <a:solidFill>
                    <a:srgbClr val="000000"/>
                  </a:solidFill>
                  <a:latin typeface="Arial"/>
                  <a:ea typeface="Arial"/>
                  <a:cs typeface="Arial"/>
                  <a:sym typeface="Arial"/>
                </a:rPr>
                <a:t> Tạo GUI cho phép người dùng cấu hình dữ liệu đầu vào (Arrival Time, Burst Time) qua file CSV, đồng thời trực quan hóa kết quả bằng biểu đồ Gantt (Gantt chart).</a:t>
              </a:r>
            </a:p>
            <a:p>
              <a:pPr algn="l" marL="653113" indent="-326557" lvl="1">
                <a:lnSpc>
                  <a:spcPts val="4235"/>
                </a:lnSpc>
                <a:buFont typeface="Arial"/>
                <a:buChar char="•"/>
              </a:pPr>
              <a:r>
                <a:rPr lang="en-US" b="true" sz="3025">
                  <a:solidFill>
                    <a:srgbClr val="000000"/>
                  </a:solidFill>
                  <a:latin typeface="Arial Bold"/>
                  <a:ea typeface="Arial Bold"/>
                  <a:cs typeface="Arial Bold"/>
                  <a:sym typeface="Arial Bold"/>
                </a:rPr>
                <a:t>Tính toán chuẩn xác:</a:t>
              </a:r>
              <a:r>
                <a:rPr lang="en-US" sz="3025">
                  <a:solidFill>
                    <a:srgbClr val="000000"/>
                  </a:solidFill>
                  <a:latin typeface="Arial"/>
                  <a:ea typeface="Arial"/>
                  <a:cs typeface="Arial"/>
                  <a:sym typeface="Arial"/>
                </a:rPr>
                <a:t> Hệ thống phải tự động tính toán thời gian chờ trung bình (Avg WT) và thời gian lưu trú trung bình (Avg TAT).</a:t>
              </a:r>
            </a:p>
            <a:p>
              <a:pPr algn="l" marL="653113" indent="-326557" lvl="1">
                <a:lnSpc>
                  <a:spcPts val="4235"/>
                </a:lnSpc>
                <a:buFont typeface="Arial"/>
                <a:buChar char="•"/>
              </a:pPr>
              <a:r>
                <a:rPr lang="en-US" b="true" sz="3025">
                  <a:solidFill>
                    <a:srgbClr val="000000"/>
                  </a:solidFill>
                  <a:latin typeface="Arial Bold"/>
                  <a:ea typeface="Arial Bold"/>
                  <a:cs typeface="Arial Bold"/>
                  <a:sym typeface="Arial Bold"/>
                </a:rPr>
                <a:t>Kiểm thử và đối chiếu (Unit Test):</a:t>
              </a:r>
              <a:r>
                <a:rPr lang="en-US" sz="3025">
                  <a:solidFill>
                    <a:srgbClr val="000000"/>
                  </a:solidFill>
                  <a:latin typeface="Arial"/>
                  <a:ea typeface="Arial"/>
                  <a:cs typeface="Arial"/>
                  <a:sym typeface="Arial"/>
                </a:rPr>
                <a:t> Chứng minh tính đúng đắn của logic thuật toán bằng cách chạy 7 test case độc lập và so sánh với sách giáo khoa.</a:t>
              </a:r>
            </a:p>
            <a:p>
              <a:pPr algn="l" marL="653113" indent="-326557" lvl="1">
                <a:lnSpc>
                  <a:spcPts val="4235"/>
                </a:lnSpc>
                <a:buFont typeface="Arial"/>
                <a:buChar char="•"/>
              </a:pPr>
              <a:r>
                <a:rPr lang="en-US" b="true" sz="3025">
                  <a:solidFill>
                    <a:srgbClr val="000000"/>
                  </a:solidFill>
                  <a:latin typeface="Arial Bold"/>
                  <a:ea typeface="Arial Bold"/>
                  <a:cs typeface="Arial Bold"/>
                  <a:sym typeface="Arial Bold"/>
                </a:rPr>
                <a:t>Kiểm thử chịu tải (Stress Test): </a:t>
              </a:r>
              <a:r>
                <a:rPr lang="en-US" sz="3025">
                  <a:solidFill>
                    <a:srgbClr val="000000"/>
                  </a:solidFill>
                  <a:latin typeface="Arial"/>
                  <a:ea typeface="Arial"/>
                  <a:cs typeface="Arial"/>
                  <a:sym typeface="Arial"/>
                </a:rPr>
                <a:t>Đo lường và báo cáo hiệu năng thực tế của hai thuật toán khi số lượng tiến trình tăng cao (từ 100 lên đến 10.000 tiến trình).</a:t>
              </a:r>
            </a:p>
            <a:p>
              <a:pPr algn="l" marL="653113" indent="-326557" lvl="1">
                <a:lnSpc>
                  <a:spcPts val="4235"/>
                </a:lnSpc>
                <a:buFont typeface="Arial"/>
                <a:buChar char="•"/>
              </a:pPr>
              <a:r>
                <a:rPr lang="en-US" b="true" sz="3025">
                  <a:solidFill>
                    <a:srgbClr val="000000"/>
                  </a:solidFill>
                  <a:latin typeface="Arial Bold"/>
                  <a:ea typeface="Arial Bold"/>
                  <a:cs typeface="Arial Bold"/>
                  <a:sym typeface="Arial Bold"/>
                </a:rPr>
                <a:t>Lưu trữ tự động:</a:t>
              </a:r>
              <a:r>
                <a:rPr lang="en-US" sz="3025">
                  <a:solidFill>
                    <a:srgbClr val="000000"/>
                  </a:solidFill>
                  <a:latin typeface="Arial"/>
                  <a:ea typeface="Arial"/>
                  <a:cs typeface="Arial"/>
                  <a:sym typeface="Arial"/>
                </a:rPr>
                <a:t> Tự động xuất kết quả đo lường ra file CSV với đầy đủ metadata và timestamp trong tên file.</a:t>
              </a:r>
            </a:p>
            <a:p>
              <a:pPr algn="l">
                <a:lnSpc>
                  <a:spcPts val="3815"/>
                </a:lnSpc>
              </a:pPr>
            </a:p>
            <a:p>
              <a:pPr algn="l">
                <a:lnSpc>
                  <a:spcPts val="3165"/>
                </a:lnSpc>
              </a:pPr>
            </a:p>
          </p:txBody>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670597" y="970053"/>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sp>
        <p:nvSpPr>
          <p:cNvPr name="Freeform 6" id="6"/>
          <p:cNvSpPr/>
          <p:nvPr/>
        </p:nvSpPr>
        <p:spPr>
          <a:xfrm flipH="false" flipV="false" rot="0">
            <a:off x="14907192" y="1152089"/>
            <a:ext cx="3266610" cy="4963081"/>
          </a:xfrm>
          <a:custGeom>
            <a:avLst/>
            <a:gdLst/>
            <a:ahLst/>
            <a:cxnLst/>
            <a:rect r="r" b="b" t="t" l="l"/>
            <a:pathLst>
              <a:path h="4963081" w="3266610">
                <a:moveTo>
                  <a:pt x="0" y="0"/>
                </a:moveTo>
                <a:lnTo>
                  <a:pt x="3266609" y="0"/>
                </a:lnTo>
                <a:lnTo>
                  <a:pt x="3266609" y="4963081"/>
                </a:lnTo>
                <a:lnTo>
                  <a:pt x="0" y="49630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14380175" y="798190"/>
            <a:ext cx="1663920" cy="1636693"/>
          </a:xfrm>
          <a:custGeom>
            <a:avLst/>
            <a:gdLst/>
            <a:ahLst/>
            <a:cxnLst/>
            <a:rect r="r" b="b" t="t" l="l"/>
            <a:pathLst>
              <a:path h="1636693" w="1663920">
                <a:moveTo>
                  <a:pt x="0" y="0"/>
                </a:moveTo>
                <a:lnTo>
                  <a:pt x="1663920" y="0"/>
                </a:lnTo>
                <a:lnTo>
                  <a:pt x="1663920" y="1636692"/>
                </a:lnTo>
                <a:lnTo>
                  <a:pt x="0" y="163669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8" id="8"/>
          <p:cNvSpPr txBox="true"/>
          <p:nvPr/>
        </p:nvSpPr>
        <p:spPr>
          <a:xfrm rot="0">
            <a:off x="2592980" y="4534603"/>
            <a:ext cx="5391937" cy="365757"/>
          </a:xfrm>
          <a:prstGeom prst="rect">
            <a:avLst/>
          </a:prstGeom>
        </p:spPr>
        <p:txBody>
          <a:bodyPr anchor="t" rtlCol="false" tIns="0" lIns="0" bIns="0" rIns="0">
            <a:spAutoFit/>
          </a:bodyPr>
          <a:lstStyle/>
          <a:p>
            <a:pPr algn="l">
              <a:lnSpc>
                <a:spcPts val="2746"/>
              </a:lnSpc>
            </a:pPr>
            <a:r>
              <a:rPr lang="en-US" sz="2251" b="true">
                <a:solidFill>
                  <a:srgbClr val="063050"/>
                </a:solidFill>
                <a:latin typeface="Poppins Medium"/>
                <a:ea typeface="Poppins Medium"/>
                <a:cs typeface="Poppins Medium"/>
                <a:sym typeface="Poppins Medium"/>
              </a:rPr>
              <a:t>C++</a:t>
            </a:r>
          </a:p>
        </p:txBody>
      </p:sp>
      <p:sp>
        <p:nvSpPr>
          <p:cNvPr name="TextBox 9" id="9"/>
          <p:cNvSpPr txBox="true"/>
          <p:nvPr/>
        </p:nvSpPr>
        <p:spPr>
          <a:xfrm rot="0">
            <a:off x="2592980" y="3595529"/>
            <a:ext cx="2762054" cy="75595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Ngôn ngữ lập trình</a:t>
            </a:r>
          </a:p>
        </p:txBody>
      </p:sp>
      <p:sp>
        <p:nvSpPr>
          <p:cNvPr name="TextBox 10" id="10"/>
          <p:cNvSpPr txBox="true"/>
          <p:nvPr/>
        </p:nvSpPr>
        <p:spPr>
          <a:xfrm rot="0">
            <a:off x="8802394" y="4477857"/>
            <a:ext cx="5345877" cy="708657"/>
          </a:xfrm>
          <a:prstGeom prst="rect">
            <a:avLst/>
          </a:prstGeom>
        </p:spPr>
        <p:txBody>
          <a:bodyPr anchor="t" rtlCol="false" tIns="0" lIns="0" bIns="0" rIns="0">
            <a:spAutoFit/>
          </a:bodyPr>
          <a:lstStyle/>
          <a:p>
            <a:pPr algn="l">
              <a:lnSpc>
                <a:spcPts val="2746"/>
              </a:lnSpc>
            </a:pPr>
            <a:r>
              <a:rPr lang="en-US" sz="2251" b="true">
                <a:solidFill>
                  <a:srgbClr val="063050"/>
                </a:solidFill>
                <a:latin typeface="Poppins Medium"/>
                <a:ea typeface="Poppins Medium"/>
                <a:cs typeface="Poppins Medium"/>
                <a:sym typeface="Poppins Medium"/>
              </a:rPr>
              <a:t>Sử dụng Qt 6 Widgets framework và biên dịch bằng Qt Creator 19.0.0.</a:t>
            </a:r>
          </a:p>
        </p:txBody>
      </p:sp>
      <p:sp>
        <p:nvSpPr>
          <p:cNvPr name="TextBox 11" id="11"/>
          <p:cNvSpPr txBox="true"/>
          <p:nvPr/>
        </p:nvSpPr>
        <p:spPr>
          <a:xfrm rot="0">
            <a:off x="8802394" y="3538783"/>
            <a:ext cx="2762054" cy="39400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Framework &amp; IDE</a:t>
            </a:r>
          </a:p>
        </p:txBody>
      </p:sp>
      <p:sp>
        <p:nvSpPr>
          <p:cNvPr name="TextBox 12" id="12"/>
          <p:cNvSpPr txBox="true"/>
          <p:nvPr/>
        </p:nvSpPr>
        <p:spPr>
          <a:xfrm rot="0">
            <a:off x="2660616" y="1324932"/>
            <a:ext cx="8068979" cy="850321"/>
          </a:xfrm>
          <a:prstGeom prst="rect">
            <a:avLst/>
          </a:prstGeom>
        </p:spPr>
        <p:txBody>
          <a:bodyPr anchor="t" rtlCol="false" tIns="0" lIns="0" bIns="0" rIns="0">
            <a:spAutoFit/>
          </a:bodyPr>
          <a:lstStyle/>
          <a:p>
            <a:pPr algn="l">
              <a:lnSpc>
                <a:spcPts val="6470"/>
              </a:lnSpc>
              <a:spcBef>
                <a:spcPct val="0"/>
              </a:spcBef>
            </a:pPr>
            <a:r>
              <a:rPr lang="en-US" b="true" sz="6221">
                <a:solidFill>
                  <a:srgbClr val="F0F7FE"/>
                </a:solidFill>
                <a:latin typeface="Faustina Bold"/>
                <a:ea typeface="Faustina Bold"/>
                <a:cs typeface="Faustina Bold"/>
                <a:sym typeface="Faustina Bold"/>
              </a:rPr>
              <a:t> TECHNOLOGIES USED</a:t>
            </a:r>
          </a:p>
        </p:txBody>
      </p:sp>
      <p:sp>
        <p:nvSpPr>
          <p:cNvPr name="Freeform 13" id="13"/>
          <p:cNvSpPr/>
          <p:nvPr/>
        </p:nvSpPr>
        <p:spPr>
          <a:xfrm flipH="false" flipV="false" rot="0">
            <a:off x="16899043" y="0"/>
            <a:ext cx="2549517" cy="2585062"/>
          </a:xfrm>
          <a:custGeom>
            <a:avLst/>
            <a:gdLst/>
            <a:ahLst/>
            <a:cxnLst/>
            <a:rect r="r" b="b" t="t" l="l"/>
            <a:pathLst>
              <a:path h="2585062" w="2549517">
                <a:moveTo>
                  <a:pt x="0" y="0"/>
                </a:moveTo>
                <a:lnTo>
                  <a:pt x="2549517" y="0"/>
                </a:lnTo>
                <a:lnTo>
                  <a:pt x="2549517" y="2585062"/>
                </a:lnTo>
                <a:lnTo>
                  <a:pt x="0" y="2585062"/>
                </a:lnTo>
                <a:lnTo>
                  <a:pt x="0" y="0"/>
                </a:lnTo>
                <a:close/>
              </a:path>
            </a:pathLst>
          </a:custGeom>
          <a:blipFill>
            <a:blip r:embed="rId7">
              <a:alphaModFix amt="71000"/>
            </a:blip>
            <a:stretch>
              <a:fillRect l="0" t="0" r="0" b="0"/>
            </a:stretch>
          </a:blipFill>
        </p:spPr>
      </p:sp>
      <p:sp>
        <p:nvSpPr>
          <p:cNvPr name="Freeform 14" id="14"/>
          <p:cNvSpPr/>
          <p:nvPr/>
        </p:nvSpPr>
        <p:spPr>
          <a:xfrm flipH="false" flipV="false" rot="0">
            <a:off x="-390204" y="9384956"/>
            <a:ext cx="2549517" cy="2585062"/>
          </a:xfrm>
          <a:custGeom>
            <a:avLst/>
            <a:gdLst/>
            <a:ahLst/>
            <a:cxnLst/>
            <a:rect r="r" b="b" t="t" l="l"/>
            <a:pathLst>
              <a:path h="2585062" w="2549517">
                <a:moveTo>
                  <a:pt x="0" y="0"/>
                </a:moveTo>
                <a:lnTo>
                  <a:pt x="2549517" y="0"/>
                </a:lnTo>
                <a:lnTo>
                  <a:pt x="2549517" y="2585061"/>
                </a:lnTo>
                <a:lnTo>
                  <a:pt x="0" y="2585061"/>
                </a:lnTo>
                <a:lnTo>
                  <a:pt x="0" y="0"/>
                </a:lnTo>
                <a:close/>
              </a:path>
            </a:pathLst>
          </a:custGeom>
          <a:blipFill>
            <a:blip r:embed="rId7">
              <a:alphaModFix amt="71000"/>
            </a:blip>
            <a:stretch>
              <a:fillRect l="0" t="0" r="0" b="0"/>
            </a:stretch>
          </a:blipFill>
        </p:spPr>
      </p:sp>
      <p:grpSp>
        <p:nvGrpSpPr>
          <p:cNvPr name="Group 15" id="15"/>
          <p:cNvGrpSpPr/>
          <p:nvPr/>
        </p:nvGrpSpPr>
        <p:grpSpPr>
          <a:xfrm rot="0">
            <a:off x="2091678" y="3814023"/>
            <a:ext cx="357065" cy="357065"/>
            <a:chOff x="0" y="0"/>
            <a:chExt cx="94042" cy="94042"/>
          </a:xfrm>
        </p:grpSpPr>
        <p:sp>
          <p:nvSpPr>
            <p:cNvPr name="Freeform 16" id="16"/>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17" id="17"/>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grpSp>
        <p:nvGrpSpPr>
          <p:cNvPr name="Group 18" id="18"/>
          <p:cNvGrpSpPr/>
          <p:nvPr/>
        </p:nvGrpSpPr>
        <p:grpSpPr>
          <a:xfrm rot="0">
            <a:off x="8267225" y="3757277"/>
            <a:ext cx="357065" cy="357065"/>
            <a:chOff x="0" y="0"/>
            <a:chExt cx="94042" cy="94042"/>
          </a:xfrm>
        </p:grpSpPr>
        <p:sp>
          <p:nvSpPr>
            <p:cNvPr name="Freeform 19" id="19"/>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20" id="20"/>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21" id="21"/>
          <p:cNvSpPr txBox="true"/>
          <p:nvPr/>
        </p:nvSpPr>
        <p:spPr>
          <a:xfrm rot="0">
            <a:off x="1195557" y="7756928"/>
            <a:ext cx="5391937" cy="365757"/>
          </a:xfrm>
          <a:prstGeom prst="rect">
            <a:avLst/>
          </a:prstGeom>
        </p:spPr>
        <p:txBody>
          <a:bodyPr anchor="t" rtlCol="false" tIns="0" lIns="0" bIns="0" rIns="0">
            <a:spAutoFit/>
          </a:bodyPr>
          <a:lstStyle/>
          <a:p>
            <a:pPr algn="l">
              <a:lnSpc>
                <a:spcPts val="2746"/>
              </a:lnSpc>
            </a:pPr>
            <a:r>
              <a:rPr lang="en-US" sz="2251" b="true">
                <a:solidFill>
                  <a:srgbClr val="063050"/>
                </a:solidFill>
                <a:latin typeface="Poppins Medium"/>
                <a:ea typeface="Poppins Medium"/>
                <a:cs typeface="Poppins Medium"/>
                <a:sym typeface="Poppins Medium"/>
              </a:rPr>
              <a:t>GitHub</a:t>
            </a:r>
          </a:p>
        </p:txBody>
      </p:sp>
      <p:sp>
        <p:nvSpPr>
          <p:cNvPr name="TextBox 22" id="22"/>
          <p:cNvSpPr txBox="true"/>
          <p:nvPr/>
        </p:nvSpPr>
        <p:spPr>
          <a:xfrm rot="0">
            <a:off x="1195557" y="6817854"/>
            <a:ext cx="3434623" cy="75595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Quản lý mã nguồn &amp; Làm việc nhóm</a:t>
            </a:r>
          </a:p>
        </p:txBody>
      </p:sp>
      <p:grpSp>
        <p:nvGrpSpPr>
          <p:cNvPr name="Group 23" id="23"/>
          <p:cNvGrpSpPr/>
          <p:nvPr/>
        </p:nvGrpSpPr>
        <p:grpSpPr>
          <a:xfrm rot="0">
            <a:off x="694255" y="7036348"/>
            <a:ext cx="357065" cy="357065"/>
            <a:chOff x="0" y="0"/>
            <a:chExt cx="94042" cy="94042"/>
          </a:xfrm>
        </p:grpSpPr>
        <p:sp>
          <p:nvSpPr>
            <p:cNvPr name="Freeform 24" id="24"/>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25" id="25"/>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26" id="26"/>
          <p:cNvSpPr txBox="true"/>
          <p:nvPr/>
        </p:nvSpPr>
        <p:spPr>
          <a:xfrm rot="0">
            <a:off x="6016410" y="7759406"/>
            <a:ext cx="4713185" cy="1051557"/>
          </a:xfrm>
          <a:prstGeom prst="rect">
            <a:avLst/>
          </a:prstGeom>
        </p:spPr>
        <p:txBody>
          <a:bodyPr anchor="t" rtlCol="false" tIns="0" lIns="0" bIns="0" rIns="0">
            <a:spAutoFit/>
          </a:bodyPr>
          <a:lstStyle/>
          <a:p>
            <a:pPr algn="l">
              <a:lnSpc>
                <a:spcPts val="2746"/>
              </a:lnSpc>
            </a:pPr>
            <a:r>
              <a:rPr lang="en-US" sz="2251" b="true">
                <a:solidFill>
                  <a:srgbClr val="063050"/>
                </a:solidFill>
                <a:latin typeface="Poppins Medium"/>
                <a:ea typeface="Poppins Medium"/>
                <a:cs typeface="Poppins Medium"/>
                <a:sym typeface="Poppins Medium"/>
              </a:rPr>
              <a:t>Dùng QFileDialog và QTextStream để import/export file CSV.</a:t>
            </a:r>
          </a:p>
        </p:txBody>
      </p:sp>
      <p:sp>
        <p:nvSpPr>
          <p:cNvPr name="TextBox 27" id="27"/>
          <p:cNvSpPr txBox="true"/>
          <p:nvPr/>
        </p:nvSpPr>
        <p:spPr>
          <a:xfrm rot="0">
            <a:off x="6016410" y="6820332"/>
            <a:ext cx="2762054" cy="75595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Thư viện xử lý dữ liệu</a:t>
            </a:r>
          </a:p>
        </p:txBody>
      </p:sp>
      <p:grpSp>
        <p:nvGrpSpPr>
          <p:cNvPr name="Group 28" id="28"/>
          <p:cNvGrpSpPr/>
          <p:nvPr/>
        </p:nvGrpSpPr>
        <p:grpSpPr>
          <a:xfrm rot="0">
            <a:off x="5515108" y="7038826"/>
            <a:ext cx="357065" cy="357065"/>
            <a:chOff x="0" y="0"/>
            <a:chExt cx="94042" cy="94042"/>
          </a:xfrm>
        </p:grpSpPr>
        <p:sp>
          <p:nvSpPr>
            <p:cNvPr name="Freeform 29" id="29"/>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30" id="30"/>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
        <p:nvSpPr>
          <p:cNvPr name="TextBox 31" id="31"/>
          <p:cNvSpPr txBox="true"/>
          <p:nvPr/>
        </p:nvSpPr>
        <p:spPr>
          <a:xfrm rot="0">
            <a:off x="11909650" y="7756928"/>
            <a:ext cx="4630847" cy="1394457"/>
          </a:xfrm>
          <a:prstGeom prst="rect">
            <a:avLst/>
          </a:prstGeom>
        </p:spPr>
        <p:txBody>
          <a:bodyPr anchor="t" rtlCol="false" tIns="0" lIns="0" bIns="0" rIns="0">
            <a:spAutoFit/>
          </a:bodyPr>
          <a:lstStyle/>
          <a:p>
            <a:pPr algn="l">
              <a:lnSpc>
                <a:spcPts val="2746"/>
              </a:lnSpc>
            </a:pPr>
            <a:r>
              <a:rPr lang="en-US" sz="2251" b="true">
                <a:solidFill>
                  <a:srgbClr val="063050"/>
                </a:solidFill>
                <a:latin typeface="Poppins Medium"/>
                <a:ea typeface="Poppins Medium"/>
                <a:cs typeface="Poppins Medium"/>
                <a:sym typeface="Poppins Medium"/>
              </a:rPr>
              <a:t>Sử dụng QElapsedTimer để đo thời gian chạy thuật toán ở mức độ nanosecond và báo cáo bằng microsecond (µs).</a:t>
            </a:r>
          </a:p>
        </p:txBody>
      </p:sp>
      <p:sp>
        <p:nvSpPr>
          <p:cNvPr name="TextBox 32" id="32"/>
          <p:cNvSpPr txBox="true"/>
          <p:nvPr/>
        </p:nvSpPr>
        <p:spPr>
          <a:xfrm rot="0">
            <a:off x="11909650" y="6817854"/>
            <a:ext cx="2762054" cy="755952"/>
          </a:xfrm>
          <a:prstGeom prst="rect">
            <a:avLst/>
          </a:prstGeom>
        </p:spPr>
        <p:txBody>
          <a:bodyPr anchor="t" rtlCol="false" tIns="0" lIns="0" bIns="0" rIns="0">
            <a:spAutoFit/>
          </a:bodyPr>
          <a:lstStyle/>
          <a:p>
            <a:pPr algn="l">
              <a:lnSpc>
                <a:spcPts val="2904"/>
              </a:lnSpc>
            </a:pPr>
            <a:r>
              <a:rPr lang="en-US" sz="2381" b="true">
                <a:solidFill>
                  <a:srgbClr val="063050"/>
                </a:solidFill>
                <a:latin typeface="Poppins Bold"/>
                <a:ea typeface="Poppins Bold"/>
                <a:cs typeface="Poppins Bold"/>
                <a:sym typeface="Poppins Bold"/>
              </a:rPr>
              <a:t>Đo lường hiệu năng</a:t>
            </a:r>
          </a:p>
        </p:txBody>
      </p:sp>
      <p:grpSp>
        <p:nvGrpSpPr>
          <p:cNvPr name="Group 33" id="33"/>
          <p:cNvGrpSpPr/>
          <p:nvPr/>
        </p:nvGrpSpPr>
        <p:grpSpPr>
          <a:xfrm rot="0">
            <a:off x="11408348" y="7036348"/>
            <a:ext cx="357065" cy="357065"/>
            <a:chOff x="0" y="0"/>
            <a:chExt cx="94042" cy="94042"/>
          </a:xfrm>
        </p:grpSpPr>
        <p:sp>
          <p:nvSpPr>
            <p:cNvPr name="Freeform 34" id="34"/>
            <p:cNvSpPr/>
            <p:nvPr/>
          </p:nvSpPr>
          <p:spPr>
            <a:xfrm flipH="false" flipV="false" rot="0">
              <a:off x="0" y="0"/>
              <a:ext cx="94042" cy="94042"/>
            </a:xfrm>
            <a:custGeom>
              <a:avLst/>
              <a:gdLst/>
              <a:ahLst/>
              <a:cxnLst/>
              <a:rect r="r" b="b" t="t" l="l"/>
              <a:pathLst>
                <a:path h="94042" w="94042">
                  <a:moveTo>
                    <a:pt x="0" y="0"/>
                  </a:moveTo>
                  <a:lnTo>
                    <a:pt x="94042" y="0"/>
                  </a:lnTo>
                  <a:lnTo>
                    <a:pt x="94042" y="94042"/>
                  </a:lnTo>
                  <a:lnTo>
                    <a:pt x="0" y="94042"/>
                  </a:lnTo>
                  <a:close/>
                </a:path>
              </a:pathLst>
            </a:custGeom>
            <a:solidFill>
              <a:srgbClr val="4F9FF5"/>
            </a:solidFill>
          </p:spPr>
        </p:sp>
        <p:sp>
          <p:nvSpPr>
            <p:cNvPr name="TextBox 35" id="35"/>
            <p:cNvSpPr txBox="true"/>
            <p:nvPr/>
          </p:nvSpPr>
          <p:spPr>
            <a:xfrm>
              <a:off x="0" y="28575"/>
              <a:ext cx="94042" cy="65467"/>
            </a:xfrm>
            <a:prstGeom prst="rect">
              <a:avLst/>
            </a:prstGeom>
          </p:spPr>
          <p:txBody>
            <a:bodyPr anchor="ctr" rtlCol="false" tIns="50800" lIns="50800" bIns="50800" rIns="50800"/>
            <a:lstStyle/>
            <a:p>
              <a:pPr algn="ctr">
                <a:lnSpc>
                  <a:spcPts val="2661"/>
                </a:lnSpc>
              </a:pP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grpSp>
        <p:nvGrpSpPr>
          <p:cNvPr name="Group 6" id="6"/>
          <p:cNvGrpSpPr/>
          <p:nvPr/>
        </p:nvGrpSpPr>
        <p:grpSpPr>
          <a:xfrm rot="0">
            <a:off x="2345878" y="5901893"/>
            <a:ext cx="13596245" cy="569017"/>
            <a:chOff x="0" y="0"/>
            <a:chExt cx="3580904" cy="149865"/>
          </a:xfrm>
        </p:grpSpPr>
        <p:sp>
          <p:nvSpPr>
            <p:cNvPr name="Freeform 7" id="7"/>
            <p:cNvSpPr/>
            <p:nvPr/>
          </p:nvSpPr>
          <p:spPr>
            <a:xfrm flipH="false" flipV="false" rot="0">
              <a:off x="0" y="0"/>
              <a:ext cx="3580904" cy="149865"/>
            </a:xfrm>
            <a:custGeom>
              <a:avLst/>
              <a:gdLst/>
              <a:ahLst/>
              <a:cxnLst/>
              <a:rect r="r" b="b" t="t" l="l"/>
              <a:pathLst>
                <a:path h="149865" w="3580904">
                  <a:moveTo>
                    <a:pt x="0" y="0"/>
                  </a:moveTo>
                  <a:lnTo>
                    <a:pt x="3580904" y="0"/>
                  </a:lnTo>
                  <a:lnTo>
                    <a:pt x="3580904" y="149865"/>
                  </a:lnTo>
                  <a:lnTo>
                    <a:pt x="0" y="149865"/>
                  </a:lnTo>
                  <a:close/>
                </a:path>
              </a:pathLst>
            </a:custGeom>
            <a:solidFill>
              <a:srgbClr val="CDE4EA"/>
            </a:solidFill>
          </p:spPr>
        </p:sp>
        <p:sp>
          <p:nvSpPr>
            <p:cNvPr name="TextBox 8" id="8"/>
            <p:cNvSpPr txBox="true"/>
            <p:nvPr/>
          </p:nvSpPr>
          <p:spPr>
            <a:xfrm>
              <a:off x="0" y="28575"/>
              <a:ext cx="3580904" cy="121290"/>
            </a:xfrm>
            <a:prstGeom prst="rect">
              <a:avLst/>
            </a:prstGeom>
          </p:spPr>
          <p:txBody>
            <a:bodyPr anchor="ctr" rtlCol="false" tIns="50800" lIns="50800" bIns="50800" rIns="50800"/>
            <a:lstStyle/>
            <a:p>
              <a:pPr algn="ctr">
                <a:lnSpc>
                  <a:spcPts val="2661"/>
                </a:lnSpc>
              </a:pPr>
            </a:p>
          </p:txBody>
        </p:sp>
      </p:grpSp>
      <p:sp>
        <p:nvSpPr>
          <p:cNvPr name="TextBox 9" id="9"/>
          <p:cNvSpPr txBox="true"/>
          <p:nvPr/>
        </p:nvSpPr>
        <p:spPr>
          <a:xfrm rot="0">
            <a:off x="4191528" y="1349738"/>
            <a:ext cx="9904945" cy="684476"/>
          </a:xfrm>
          <a:prstGeom prst="rect">
            <a:avLst/>
          </a:prstGeom>
        </p:spPr>
        <p:txBody>
          <a:bodyPr anchor="t" rtlCol="false" tIns="0" lIns="0" bIns="0" rIns="0">
            <a:spAutoFit/>
          </a:bodyPr>
          <a:lstStyle/>
          <a:p>
            <a:pPr algn="l" marL="0" indent="0" lvl="0">
              <a:lnSpc>
                <a:spcPts val="5294"/>
              </a:lnSpc>
              <a:spcBef>
                <a:spcPct val="0"/>
              </a:spcBef>
            </a:pPr>
            <a:r>
              <a:rPr lang="en-US" b="true" sz="5091">
                <a:solidFill>
                  <a:srgbClr val="F0F7FE"/>
                </a:solidFill>
                <a:latin typeface="Faustina Bold"/>
                <a:ea typeface="Faustina Bold"/>
                <a:cs typeface="Faustina Bold"/>
                <a:sym typeface="Faustina Bold"/>
              </a:rPr>
              <a:t>FCF</a:t>
            </a:r>
            <a:r>
              <a:rPr lang="en-US" b="true" sz="5091" strike="noStrike" u="none">
                <a:solidFill>
                  <a:srgbClr val="F0F7FE"/>
                </a:solidFill>
                <a:latin typeface="Faustina Bold"/>
                <a:ea typeface="Faustina Bold"/>
                <a:cs typeface="Faustina Bold"/>
                <a:sym typeface="Faustina Bold"/>
              </a:rPr>
              <a:t>S</a:t>
            </a:r>
            <a:r>
              <a:rPr lang="en-US" b="true" sz="5091" strike="noStrike" u="none">
                <a:solidFill>
                  <a:srgbClr val="F0F7FE"/>
                </a:solidFill>
                <a:latin typeface="Faustina Bold"/>
                <a:ea typeface="Faustina Bold"/>
                <a:cs typeface="Faustina Bold"/>
                <a:sym typeface="Faustina Bold"/>
              </a:rPr>
              <a:t> (</a:t>
            </a:r>
            <a:r>
              <a:rPr lang="en-US" b="true" sz="5091" strike="noStrike" u="none">
                <a:solidFill>
                  <a:srgbClr val="F0F7FE"/>
                </a:solidFill>
                <a:latin typeface="Faustina Bold"/>
                <a:ea typeface="Faustina Bold"/>
                <a:cs typeface="Faustina Bold"/>
                <a:sym typeface="Faustina Bold"/>
              </a:rPr>
              <a:t>FIRST </a:t>
            </a:r>
            <a:r>
              <a:rPr lang="en-US" b="true" sz="5091" strike="noStrike" u="none">
                <a:solidFill>
                  <a:srgbClr val="F0F7FE"/>
                </a:solidFill>
                <a:latin typeface="Faustina Bold"/>
                <a:ea typeface="Faustina Bold"/>
                <a:cs typeface="Faustina Bold"/>
                <a:sym typeface="Faustina Bold"/>
              </a:rPr>
              <a:t>C</a:t>
            </a:r>
            <a:r>
              <a:rPr lang="en-US" b="true" sz="5091" strike="noStrike" u="none">
                <a:solidFill>
                  <a:srgbClr val="F0F7FE"/>
                </a:solidFill>
                <a:latin typeface="Faustina Bold"/>
                <a:ea typeface="Faustina Bold"/>
                <a:cs typeface="Faustina Bold"/>
                <a:sym typeface="Faustina Bold"/>
              </a:rPr>
              <a:t>O</a:t>
            </a:r>
            <a:r>
              <a:rPr lang="en-US" b="true" sz="5091" strike="noStrike" u="none">
                <a:solidFill>
                  <a:srgbClr val="F0F7FE"/>
                </a:solidFill>
                <a:latin typeface="Faustina Bold"/>
                <a:ea typeface="Faustina Bold"/>
                <a:cs typeface="Faustina Bold"/>
                <a:sym typeface="Faustina Bold"/>
              </a:rPr>
              <a:t>ME</a:t>
            </a:r>
            <a:r>
              <a:rPr lang="en-US" b="true" sz="5091" strike="noStrike" u="none">
                <a:solidFill>
                  <a:srgbClr val="F0F7FE"/>
                </a:solidFill>
                <a:latin typeface="Faustina Bold"/>
                <a:ea typeface="Faustina Bold"/>
                <a:cs typeface="Faustina Bold"/>
                <a:sym typeface="Faustina Bold"/>
              </a:rPr>
              <a:t> FIRST</a:t>
            </a:r>
            <a:r>
              <a:rPr lang="en-US" b="true" sz="5091" strike="noStrike" u="none">
                <a:solidFill>
                  <a:srgbClr val="F0F7FE"/>
                </a:solidFill>
                <a:latin typeface="Faustina Bold"/>
                <a:ea typeface="Faustina Bold"/>
                <a:cs typeface="Faustina Bold"/>
                <a:sym typeface="Faustina Bold"/>
              </a:rPr>
              <a:t> SERVED)</a:t>
            </a:r>
          </a:p>
        </p:txBody>
      </p:sp>
      <p:sp>
        <p:nvSpPr>
          <p:cNvPr name="TextBox 10" id="10"/>
          <p:cNvSpPr txBox="true"/>
          <p:nvPr/>
        </p:nvSpPr>
        <p:spPr>
          <a:xfrm rot="0">
            <a:off x="0" y="2572591"/>
            <a:ext cx="18288000" cy="356792"/>
          </a:xfrm>
          <a:prstGeom prst="rect">
            <a:avLst/>
          </a:prstGeom>
        </p:spPr>
        <p:txBody>
          <a:bodyPr anchor="t" rtlCol="false" tIns="0" lIns="0" bIns="0" rIns="0">
            <a:spAutoFit/>
          </a:bodyPr>
          <a:lstStyle/>
          <a:p>
            <a:pPr algn="ctr">
              <a:lnSpc>
                <a:spcPts val="2661"/>
              </a:lnSpc>
              <a:spcBef>
                <a:spcPct val="0"/>
              </a:spcBef>
            </a:pPr>
            <a:r>
              <a:rPr lang="en-US" b="true" sz="2558">
                <a:solidFill>
                  <a:srgbClr val="000000"/>
                </a:solidFill>
                <a:latin typeface="Raleway Bold"/>
                <a:ea typeface="Raleway Bold"/>
                <a:cs typeface="Raleway Bold"/>
                <a:sym typeface="Raleway Bold"/>
              </a:rPr>
              <a:t>Nguyên lý hoạt động: </a:t>
            </a:r>
            <a:r>
              <a:rPr lang="en-US" sz="2558">
                <a:solidFill>
                  <a:srgbClr val="000000"/>
                </a:solidFill>
                <a:latin typeface="Raleway"/>
                <a:ea typeface="Raleway"/>
                <a:cs typeface="Raleway"/>
                <a:sym typeface="Raleway"/>
              </a:rPr>
              <a:t>Tiến trình nào có thời gian đến (Arrival Time) trước sẽ được CPU ưu tiên phục vụ trước.</a:t>
            </a:r>
          </a:p>
        </p:txBody>
      </p:sp>
      <p:sp>
        <p:nvSpPr>
          <p:cNvPr name="TextBox 11" id="11"/>
          <p:cNvSpPr txBox="true"/>
          <p:nvPr/>
        </p:nvSpPr>
        <p:spPr>
          <a:xfrm rot="0">
            <a:off x="1028700" y="3522578"/>
            <a:ext cx="16230600" cy="710748"/>
          </a:xfrm>
          <a:prstGeom prst="rect">
            <a:avLst/>
          </a:prstGeom>
        </p:spPr>
        <p:txBody>
          <a:bodyPr anchor="t" rtlCol="false" tIns="0" lIns="0" bIns="0" rIns="0">
            <a:spAutoFit/>
          </a:bodyPr>
          <a:lstStyle/>
          <a:p>
            <a:pPr algn="just">
              <a:lnSpc>
                <a:spcPts val="2739"/>
              </a:lnSpc>
              <a:spcBef>
                <a:spcPct val="0"/>
              </a:spcBef>
            </a:pPr>
            <a:r>
              <a:rPr lang="en-US" b="true" sz="2633">
                <a:solidFill>
                  <a:srgbClr val="000000"/>
                </a:solidFill>
                <a:latin typeface="Raleway Bold"/>
                <a:ea typeface="Raleway Bold"/>
                <a:cs typeface="Raleway Bold"/>
                <a:sym typeface="Raleway Bold"/>
              </a:rPr>
              <a:t>Tính chất: </a:t>
            </a:r>
            <a:r>
              <a:rPr lang="en-US" sz="2633">
                <a:solidFill>
                  <a:srgbClr val="000000"/>
                </a:solidFill>
                <a:latin typeface="Raleway"/>
                <a:ea typeface="Raleway"/>
                <a:cs typeface="Raleway"/>
                <a:sym typeface="Raleway"/>
              </a:rPr>
              <a:t>Hoạt động theo cơ chế không ngắt</a:t>
            </a:r>
            <a:r>
              <a:rPr lang="en-US" sz="2633">
                <a:solidFill>
                  <a:srgbClr val="000000"/>
                </a:solidFill>
                <a:latin typeface="Raleway"/>
                <a:ea typeface="Raleway"/>
                <a:cs typeface="Raleway"/>
                <a:sym typeface="Raleway"/>
              </a:rPr>
              <a:t> giữa chừng (Non-Preemptive), nghĩa là tiến trình sẽ chiếm dụng CPU liên tục cho đến khi chạy xong toàn bộ Burst Time.</a:t>
            </a:r>
          </a:p>
        </p:txBody>
      </p:sp>
      <p:sp>
        <p:nvSpPr>
          <p:cNvPr name="TextBox 12" id="12"/>
          <p:cNvSpPr txBox="true"/>
          <p:nvPr/>
        </p:nvSpPr>
        <p:spPr>
          <a:xfrm rot="0">
            <a:off x="1028700" y="5062001"/>
            <a:ext cx="867296" cy="356792"/>
          </a:xfrm>
          <a:prstGeom prst="rect">
            <a:avLst/>
          </a:prstGeom>
        </p:spPr>
        <p:txBody>
          <a:bodyPr anchor="t" rtlCol="false" tIns="0" lIns="0" bIns="0" rIns="0">
            <a:spAutoFit/>
          </a:bodyPr>
          <a:lstStyle/>
          <a:p>
            <a:pPr algn="ctr">
              <a:lnSpc>
                <a:spcPts val="2661"/>
              </a:lnSpc>
              <a:spcBef>
                <a:spcPct val="0"/>
              </a:spcBef>
            </a:pPr>
            <a:r>
              <a:rPr lang="en-US" b="true" sz="2558">
                <a:solidFill>
                  <a:srgbClr val="000000"/>
                </a:solidFill>
                <a:latin typeface="Raleway Bold"/>
                <a:ea typeface="Raleway Bold"/>
                <a:cs typeface="Raleway Bold"/>
                <a:sym typeface="Raleway Bold"/>
              </a:rPr>
              <a:t>Ví dụ:</a:t>
            </a:r>
          </a:p>
        </p:txBody>
      </p:sp>
      <p:sp>
        <p:nvSpPr>
          <p:cNvPr name="TextBox 13" id="13"/>
          <p:cNvSpPr txBox="true"/>
          <p:nvPr/>
        </p:nvSpPr>
        <p:spPr>
          <a:xfrm rot="0">
            <a:off x="1904402" y="5062001"/>
            <a:ext cx="9052223" cy="356792"/>
          </a:xfrm>
          <a:prstGeom prst="rect">
            <a:avLst/>
          </a:prstGeom>
        </p:spPr>
        <p:txBody>
          <a:bodyPr anchor="t" rtlCol="false" tIns="0" lIns="0" bIns="0" rIns="0">
            <a:spAutoFit/>
          </a:bodyPr>
          <a:lstStyle/>
          <a:p>
            <a:pPr algn="ctr">
              <a:lnSpc>
                <a:spcPts val="2661"/>
              </a:lnSpc>
              <a:spcBef>
                <a:spcPct val="0"/>
              </a:spcBef>
            </a:pPr>
            <a:r>
              <a:rPr lang="en-US" sz="2558">
                <a:solidFill>
                  <a:srgbClr val="000000"/>
                </a:solidFill>
                <a:latin typeface="Raleway"/>
                <a:ea typeface="Raleway"/>
                <a:cs typeface="Raleway"/>
                <a:sym typeface="Raleway"/>
              </a:rPr>
              <a:t>Input: P1(burst=24), P2(burst=3), P3(burst=3) — tất cả arrival = 0</a:t>
            </a:r>
          </a:p>
        </p:txBody>
      </p:sp>
      <p:grpSp>
        <p:nvGrpSpPr>
          <p:cNvPr name="Group 14" id="14"/>
          <p:cNvGrpSpPr/>
          <p:nvPr/>
        </p:nvGrpSpPr>
        <p:grpSpPr>
          <a:xfrm rot="0">
            <a:off x="2345878" y="7214792"/>
            <a:ext cx="13594920" cy="508294"/>
            <a:chOff x="0" y="0"/>
            <a:chExt cx="3580555" cy="133872"/>
          </a:xfrm>
        </p:grpSpPr>
        <p:sp>
          <p:nvSpPr>
            <p:cNvPr name="Freeform 15" id="15"/>
            <p:cNvSpPr/>
            <p:nvPr/>
          </p:nvSpPr>
          <p:spPr>
            <a:xfrm flipH="false" flipV="false" rot="0">
              <a:off x="0" y="0"/>
              <a:ext cx="3580555" cy="133872"/>
            </a:xfrm>
            <a:custGeom>
              <a:avLst/>
              <a:gdLst/>
              <a:ahLst/>
              <a:cxnLst/>
              <a:rect r="r" b="b" t="t" l="l"/>
              <a:pathLst>
                <a:path h="133872" w="3580555">
                  <a:moveTo>
                    <a:pt x="0" y="0"/>
                  </a:moveTo>
                  <a:lnTo>
                    <a:pt x="3580555" y="0"/>
                  </a:lnTo>
                  <a:lnTo>
                    <a:pt x="3580555" y="133872"/>
                  </a:lnTo>
                  <a:lnTo>
                    <a:pt x="0" y="133872"/>
                  </a:lnTo>
                  <a:close/>
                </a:path>
              </a:pathLst>
            </a:custGeom>
            <a:solidFill>
              <a:srgbClr val="CDE4EA"/>
            </a:solidFill>
          </p:spPr>
        </p:sp>
        <p:sp>
          <p:nvSpPr>
            <p:cNvPr name="TextBox 16" id="16"/>
            <p:cNvSpPr txBox="true"/>
            <p:nvPr/>
          </p:nvSpPr>
          <p:spPr>
            <a:xfrm>
              <a:off x="0" y="28575"/>
              <a:ext cx="3580555" cy="105297"/>
            </a:xfrm>
            <a:prstGeom prst="rect">
              <a:avLst/>
            </a:prstGeom>
          </p:spPr>
          <p:txBody>
            <a:bodyPr anchor="ctr" rtlCol="false" tIns="50800" lIns="50800" bIns="50800" rIns="50800"/>
            <a:lstStyle/>
            <a:p>
              <a:pPr algn="ctr">
                <a:lnSpc>
                  <a:spcPts val="2661"/>
                </a:lnSpc>
              </a:pPr>
            </a:p>
          </p:txBody>
        </p:sp>
      </p:grpSp>
      <p:sp>
        <p:nvSpPr>
          <p:cNvPr name="TextBox 17" id="17"/>
          <p:cNvSpPr txBox="true"/>
          <p:nvPr/>
        </p:nvSpPr>
        <p:spPr>
          <a:xfrm rot="0">
            <a:off x="2345878" y="6694846"/>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P1         0              24                0                 0               24                   24                 PASS </a:t>
            </a:r>
          </a:p>
        </p:txBody>
      </p:sp>
      <p:sp>
        <p:nvSpPr>
          <p:cNvPr name="TextBox 18" id="18"/>
          <p:cNvSpPr txBox="true"/>
          <p:nvPr/>
        </p:nvSpPr>
        <p:spPr>
          <a:xfrm rot="0">
            <a:off x="2370877" y="6040431"/>
            <a:ext cx="17696266" cy="356792"/>
          </a:xfrm>
          <a:prstGeom prst="rect">
            <a:avLst/>
          </a:prstGeom>
        </p:spPr>
        <p:txBody>
          <a:bodyPr anchor="t" rtlCol="false" tIns="0" lIns="0" bIns="0" rIns="0">
            <a:spAutoFit/>
          </a:bodyPr>
          <a:lstStyle/>
          <a:p>
            <a:pPr algn="l">
              <a:lnSpc>
                <a:spcPts val="2661"/>
              </a:lnSpc>
              <a:spcBef>
                <a:spcPct val="0"/>
              </a:spcBef>
            </a:pPr>
            <a:r>
              <a:rPr lang="en-US" sz="2558">
                <a:solidFill>
                  <a:srgbClr val="000000"/>
                </a:solidFill>
                <a:latin typeface="Raleway"/>
                <a:ea typeface="Raleway"/>
                <a:cs typeface="Raleway"/>
                <a:sym typeface="Raleway"/>
              </a:rPr>
              <a:t>PID      Arrival         Burst         WT sách      WT app     TAT sách        TAT app          Kết quả</a:t>
            </a:r>
          </a:p>
        </p:txBody>
      </p:sp>
      <p:sp>
        <p:nvSpPr>
          <p:cNvPr name="TextBox 19" id="19"/>
          <p:cNvSpPr txBox="true"/>
          <p:nvPr/>
        </p:nvSpPr>
        <p:spPr>
          <a:xfrm rot="0">
            <a:off x="2345878" y="7305180"/>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P2         0               3                24                24              27                  27                 PASS </a:t>
            </a:r>
          </a:p>
        </p:txBody>
      </p:sp>
      <p:sp>
        <p:nvSpPr>
          <p:cNvPr name="TextBox 20" id="20"/>
          <p:cNvSpPr txBox="true"/>
          <p:nvPr/>
        </p:nvSpPr>
        <p:spPr>
          <a:xfrm rot="0">
            <a:off x="2345878" y="8018361"/>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P3          0              3                27                27              30                  30                 PASS </a:t>
            </a:r>
          </a:p>
        </p:txBody>
      </p:sp>
      <p:sp>
        <p:nvSpPr>
          <p:cNvPr name="TextBox 21" id="21"/>
          <p:cNvSpPr txBox="true"/>
          <p:nvPr/>
        </p:nvSpPr>
        <p:spPr>
          <a:xfrm rot="0">
            <a:off x="6430687" y="9388013"/>
            <a:ext cx="7742439" cy="690167"/>
          </a:xfrm>
          <a:prstGeom prst="rect">
            <a:avLst/>
          </a:prstGeom>
        </p:spPr>
        <p:txBody>
          <a:bodyPr anchor="t" rtlCol="false" tIns="0" lIns="0" bIns="0" rIns="0">
            <a:spAutoFit/>
          </a:bodyPr>
          <a:lstStyle/>
          <a:p>
            <a:pPr algn="l">
              <a:lnSpc>
                <a:spcPts val="2661"/>
              </a:lnSpc>
            </a:pPr>
            <a:r>
              <a:rPr lang="en-US" sz="2558">
                <a:solidFill>
                  <a:srgbClr val="000000"/>
                </a:solidFill>
                <a:latin typeface="Raleway"/>
                <a:ea typeface="Raleway"/>
                <a:cs typeface="Raleway"/>
                <a:sym typeface="Raleway"/>
              </a:rPr>
              <a:t>Avg WT = 17.00  | Avg TAT = 27.00 </a:t>
            </a:r>
          </a:p>
          <a:p>
            <a:pPr algn="ctr">
              <a:lnSpc>
                <a:spcPts val="2661"/>
              </a:lnSpc>
              <a:spcBef>
                <a:spcPct val="0"/>
              </a:spcBef>
            </a:pP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grpSp>
        <p:nvGrpSpPr>
          <p:cNvPr name="Group 6" id="6"/>
          <p:cNvGrpSpPr/>
          <p:nvPr/>
        </p:nvGrpSpPr>
        <p:grpSpPr>
          <a:xfrm rot="0">
            <a:off x="2345878" y="5901893"/>
            <a:ext cx="13596245" cy="569017"/>
            <a:chOff x="0" y="0"/>
            <a:chExt cx="3580904" cy="149865"/>
          </a:xfrm>
        </p:grpSpPr>
        <p:sp>
          <p:nvSpPr>
            <p:cNvPr name="Freeform 7" id="7"/>
            <p:cNvSpPr/>
            <p:nvPr/>
          </p:nvSpPr>
          <p:spPr>
            <a:xfrm flipH="false" flipV="false" rot="0">
              <a:off x="0" y="0"/>
              <a:ext cx="3580904" cy="149865"/>
            </a:xfrm>
            <a:custGeom>
              <a:avLst/>
              <a:gdLst/>
              <a:ahLst/>
              <a:cxnLst/>
              <a:rect r="r" b="b" t="t" l="l"/>
              <a:pathLst>
                <a:path h="149865" w="3580904">
                  <a:moveTo>
                    <a:pt x="0" y="0"/>
                  </a:moveTo>
                  <a:lnTo>
                    <a:pt x="3580904" y="0"/>
                  </a:lnTo>
                  <a:lnTo>
                    <a:pt x="3580904" y="149865"/>
                  </a:lnTo>
                  <a:lnTo>
                    <a:pt x="0" y="149865"/>
                  </a:lnTo>
                  <a:close/>
                </a:path>
              </a:pathLst>
            </a:custGeom>
            <a:solidFill>
              <a:srgbClr val="CDE4EA"/>
            </a:solidFill>
          </p:spPr>
        </p:sp>
        <p:sp>
          <p:nvSpPr>
            <p:cNvPr name="TextBox 8" id="8"/>
            <p:cNvSpPr txBox="true"/>
            <p:nvPr/>
          </p:nvSpPr>
          <p:spPr>
            <a:xfrm>
              <a:off x="0" y="28575"/>
              <a:ext cx="3580904" cy="121290"/>
            </a:xfrm>
            <a:prstGeom prst="rect">
              <a:avLst/>
            </a:prstGeom>
          </p:spPr>
          <p:txBody>
            <a:bodyPr anchor="ctr" rtlCol="false" tIns="50800" lIns="50800" bIns="50800" rIns="50800"/>
            <a:lstStyle/>
            <a:p>
              <a:pPr algn="ctr">
                <a:lnSpc>
                  <a:spcPts val="2661"/>
                </a:lnSpc>
              </a:pPr>
            </a:p>
          </p:txBody>
        </p:sp>
      </p:grpSp>
      <p:sp>
        <p:nvSpPr>
          <p:cNvPr name="TextBox 9" id="9"/>
          <p:cNvSpPr txBox="true"/>
          <p:nvPr/>
        </p:nvSpPr>
        <p:spPr>
          <a:xfrm rot="0">
            <a:off x="2321785" y="1373765"/>
            <a:ext cx="13644430" cy="684476"/>
          </a:xfrm>
          <a:prstGeom prst="rect">
            <a:avLst/>
          </a:prstGeom>
        </p:spPr>
        <p:txBody>
          <a:bodyPr anchor="t" rtlCol="false" tIns="0" lIns="0" bIns="0" rIns="0">
            <a:spAutoFit/>
          </a:bodyPr>
          <a:lstStyle/>
          <a:p>
            <a:pPr algn="l" marL="0" indent="0" lvl="0">
              <a:lnSpc>
                <a:spcPts val="5294"/>
              </a:lnSpc>
              <a:spcBef>
                <a:spcPct val="0"/>
              </a:spcBef>
            </a:pPr>
            <a:r>
              <a:rPr lang="en-US" b="true" sz="5091" strike="noStrike" u="none">
                <a:solidFill>
                  <a:srgbClr val="F0F7FE"/>
                </a:solidFill>
                <a:latin typeface="Faustina Bold"/>
                <a:ea typeface="Faustina Bold"/>
                <a:cs typeface="Faustina Bold"/>
                <a:sym typeface="Faustina Bold"/>
              </a:rPr>
              <a:t>SJF NON-PREEMPTIVE — SHORTEST JOB FIRST  </a:t>
            </a:r>
          </a:p>
        </p:txBody>
      </p:sp>
      <p:sp>
        <p:nvSpPr>
          <p:cNvPr name="TextBox 10" id="10"/>
          <p:cNvSpPr txBox="true"/>
          <p:nvPr/>
        </p:nvSpPr>
        <p:spPr>
          <a:xfrm rot="0">
            <a:off x="1503581" y="2572591"/>
            <a:ext cx="11218515" cy="356792"/>
          </a:xfrm>
          <a:prstGeom prst="rect">
            <a:avLst/>
          </a:prstGeom>
        </p:spPr>
        <p:txBody>
          <a:bodyPr anchor="t" rtlCol="false" tIns="0" lIns="0" bIns="0" rIns="0">
            <a:spAutoFit/>
          </a:bodyPr>
          <a:lstStyle/>
          <a:p>
            <a:pPr algn="ctr">
              <a:lnSpc>
                <a:spcPts val="2661"/>
              </a:lnSpc>
              <a:spcBef>
                <a:spcPct val="0"/>
              </a:spcBef>
            </a:pPr>
            <a:r>
              <a:rPr lang="en-US" b="true" sz="2558">
                <a:solidFill>
                  <a:srgbClr val="000000"/>
                </a:solidFill>
                <a:latin typeface="Raleway Bold"/>
                <a:ea typeface="Raleway Bold"/>
                <a:cs typeface="Raleway Bold"/>
                <a:sym typeface="Raleway Bold"/>
              </a:rPr>
              <a:t>Nguyên tắc: </a:t>
            </a:r>
            <a:r>
              <a:rPr lang="en-US" sz="2558">
                <a:solidFill>
                  <a:srgbClr val="000000"/>
                </a:solidFill>
                <a:latin typeface="Raleway"/>
                <a:ea typeface="Raleway"/>
                <a:cs typeface="Raleway"/>
                <a:sym typeface="Raleway"/>
              </a:rPr>
              <a:t>Tiến trình có thời gian xử lý ngắn nhất sẽ được thực hiện trước.</a:t>
            </a:r>
          </a:p>
        </p:txBody>
      </p:sp>
      <p:sp>
        <p:nvSpPr>
          <p:cNvPr name="TextBox 11" id="11"/>
          <p:cNvSpPr txBox="true"/>
          <p:nvPr/>
        </p:nvSpPr>
        <p:spPr>
          <a:xfrm rot="0">
            <a:off x="1503581" y="3138933"/>
            <a:ext cx="11176843" cy="1739448"/>
          </a:xfrm>
          <a:prstGeom prst="rect">
            <a:avLst/>
          </a:prstGeom>
        </p:spPr>
        <p:txBody>
          <a:bodyPr anchor="t" rtlCol="false" tIns="0" lIns="0" bIns="0" rIns="0">
            <a:spAutoFit/>
          </a:bodyPr>
          <a:lstStyle/>
          <a:p>
            <a:pPr algn="just">
              <a:lnSpc>
                <a:spcPts val="2739"/>
              </a:lnSpc>
            </a:pPr>
            <a:r>
              <a:rPr lang="en-US" sz="2633" b="true">
                <a:solidFill>
                  <a:srgbClr val="000000"/>
                </a:solidFill>
                <a:latin typeface="Raleway Bold"/>
                <a:ea typeface="Raleway Bold"/>
                <a:cs typeface="Raleway Bold"/>
                <a:sym typeface="Raleway Bold"/>
              </a:rPr>
              <a:t>Đặc trưng:</a:t>
            </a:r>
          </a:p>
          <a:p>
            <a:pPr algn="just" marL="568679" indent="-284339" lvl="1">
              <a:lnSpc>
                <a:spcPts val="2739"/>
              </a:lnSpc>
              <a:buFont typeface="Arial"/>
              <a:buChar char="•"/>
            </a:pPr>
            <a:r>
              <a:rPr lang="en-US" sz="2633">
                <a:solidFill>
                  <a:srgbClr val="000000"/>
                </a:solidFill>
                <a:latin typeface="Raleway"/>
                <a:ea typeface="Raleway"/>
                <a:cs typeface="Raleway"/>
                <a:sym typeface="Raleway"/>
              </a:rPr>
              <a:t>Ưu tiên tiến trình ngắn nhất</a:t>
            </a:r>
          </a:p>
          <a:p>
            <a:pPr algn="just" marL="568679" indent="-284339" lvl="1">
              <a:lnSpc>
                <a:spcPts val="2739"/>
              </a:lnSpc>
              <a:buFont typeface="Arial"/>
              <a:buChar char="•"/>
            </a:pPr>
            <a:r>
              <a:rPr lang="en-US" sz="2633">
                <a:solidFill>
                  <a:srgbClr val="000000"/>
                </a:solidFill>
                <a:latin typeface="Raleway"/>
                <a:ea typeface="Raleway"/>
                <a:cs typeface="Raleway"/>
                <a:sym typeface="Raleway"/>
              </a:rPr>
              <a:t>Tối ưu thời gian chờ trung bình</a:t>
            </a:r>
          </a:p>
          <a:p>
            <a:pPr algn="just" marL="568679" indent="-284339" lvl="1">
              <a:lnSpc>
                <a:spcPts val="2739"/>
              </a:lnSpc>
              <a:buFont typeface="Arial"/>
              <a:buChar char="•"/>
            </a:pPr>
            <a:r>
              <a:rPr lang="en-US" sz="2633">
                <a:solidFill>
                  <a:srgbClr val="000000"/>
                </a:solidFill>
                <a:latin typeface="Raleway"/>
                <a:ea typeface="Raleway"/>
                <a:cs typeface="Raleway"/>
                <a:sym typeface="Raleway"/>
              </a:rPr>
              <a:t>Có thể gây ra hiện tượng “đói” (Tiến trình dài có thể bị trì hoãn rất lâu) </a:t>
            </a:r>
          </a:p>
          <a:p>
            <a:pPr algn="just" marL="568679" indent="-284339" lvl="1">
              <a:lnSpc>
                <a:spcPts val="2739"/>
              </a:lnSpc>
              <a:spcBef>
                <a:spcPct val="0"/>
              </a:spcBef>
              <a:buFont typeface="Arial"/>
              <a:buChar char="•"/>
            </a:pPr>
            <a:r>
              <a:rPr lang="en-US" sz="2633">
                <a:solidFill>
                  <a:srgbClr val="000000"/>
                </a:solidFill>
                <a:latin typeface="Raleway"/>
                <a:ea typeface="Raleway"/>
                <a:cs typeface="Raleway"/>
                <a:sym typeface="Raleway"/>
              </a:rPr>
              <a:t>Yêu cầu có kiến thức trước đó về thời gian thực thi </a:t>
            </a:r>
            <a:r>
              <a:rPr lang="en-US" sz="2633">
                <a:solidFill>
                  <a:srgbClr val="000000"/>
                </a:solidFill>
                <a:latin typeface="Raleway"/>
                <a:ea typeface="Raleway"/>
                <a:cs typeface="Raleway"/>
                <a:sym typeface="Raleway"/>
              </a:rPr>
              <a:t> </a:t>
            </a:r>
          </a:p>
        </p:txBody>
      </p:sp>
      <p:sp>
        <p:nvSpPr>
          <p:cNvPr name="TextBox 12" id="12"/>
          <p:cNvSpPr txBox="true"/>
          <p:nvPr/>
        </p:nvSpPr>
        <p:spPr>
          <a:xfrm rot="0">
            <a:off x="1503581" y="5172075"/>
            <a:ext cx="867296" cy="356792"/>
          </a:xfrm>
          <a:prstGeom prst="rect">
            <a:avLst/>
          </a:prstGeom>
        </p:spPr>
        <p:txBody>
          <a:bodyPr anchor="t" rtlCol="false" tIns="0" lIns="0" bIns="0" rIns="0">
            <a:spAutoFit/>
          </a:bodyPr>
          <a:lstStyle/>
          <a:p>
            <a:pPr algn="ctr">
              <a:lnSpc>
                <a:spcPts val="2661"/>
              </a:lnSpc>
              <a:spcBef>
                <a:spcPct val="0"/>
              </a:spcBef>
            </a:pPr>
            <a:r>
              <a:rPr lang="en-US" b="true" sz="2558">
                <a:solidFill>
                  <a:srgbClr val="000000"/>
                </a:solidFill>
                <a:latin typeface="Raleway Bold"/>
                <a:ea typeface="Raleway Bold"/>
                <a:cs typeface="Raleway Bold"/>
                <a:sym typeface="Raleway Bold"/>
              </a:rPr>
              <a:t>Ví dụ:</a:t>
            </a:r>
          </a:p>
        </p:txBody>
      </p:sp>
      <p:sp>
        <p:nvSpPr>
          <p:cNvPr name="TextBox 13" id="13"/>
          <p:cNvSpPr txBox="true"/>
          <p:nvPr/>
        </p:nvSpPr>
        <p:spPr>
          <a:xfrm rot="0">
            <a:off x="2653830" y="5062001"/>
            <a:ext cx="8493175" cy="1023542"/>
          </a:xfrm>
          <a:prstGeom prst="rect">
            <a:avLst/>
          </a:prstGeom>
        </p:spPr>
        <p:txBody>
          <a:bodyPr anchor="t" rtlCol="false" tIns="0" lIns="0" bIns="0" rIns="0">
            <a:spAutoFit/>
          </a:bodyPr>
          <a:lstStyle/>
          <a:p>
            <a:pPr algn="l">
              <a:lnSpc>
                <a:spcPts val="2661"/>
              </a:lnSpc>
            </a:pPr>
            <a:r>
              <a:rPr lang="en-US" sz="2558">
                <a:solidFill>
                  <a:srgbClr val="000000"/>
                </a:solidFill>
                <a:latin typeface="Raleway"/>
                <a:ea typeface="Raleway"/>
                <a:cs typeface="Raleway"/>
                <a:sym typeface="Raleway"/>
              </a:rPr>
              <a:t>Input: P1(b=6), P2(b=8), P3(b=7), P4(b=3) — tất cả arrival = 0 </a:t>
            </a:r>
          </a:p>
          <a:p>
            <a:pPr algn="l">
              <a:lnSpc>
                <a:spcPts val="2661"/>
              </a:lnSpc>
            </a:pPr>
            <a:r>
              <a:rPr lang="en-US" sz="2558">
                <a:solidFill>
                  <a:srgbClr val="000000"/>
                </a:solidFill>
                <a:latin typeface="Raleway"/>
                <a:ea typeface="Raleway"/>
                <a:cs typeface="Raleway"/>
                <a:sym typeface="Raleway"/>
              </a:rPr>
              <a:t>Thứ tự: P4→P1→P3→P2</a:t>
            </a:r>
          </a:p>
          <a:p>
            <a:pPr algn="ctr">
              <a:lnSpc>
                <a:spcPts val="2661"/>
              </a:lnSpc>
              <a:spcBef>
                <a:spcPct val="0"/>
              </a:spcBef>
            </a:pPr>
          </a:p>
        </p:txBody>
      </p:sp>
      <p:grpSp>
        <p:nvGrpSpPr>
          <p:cNvPr name="Group 14" id="14"/>
          <p:cNvGrpSpPr/>
          <p:nvPr/>
        </p:nvGrpSpPr>
        <p:grpSpPr>
          <a:xfrm rot="0">
            <a:off x="2345878" y="7214792"/>
            <a:ext cx="13594920" cy="508294"/>
            <a:chOff x="0" y="0"/>
            <a:chExt cx="3580555" cy="133872"/>
          </a:xfrm>
        </p:grpSpPr>
        <p:sp>
          <p:nvSpPr>
            <p:cNvPr name="Freeform 15" id="15"/>
            <p:cNvSpPr/>
            <p:nvPr/>
          </p:nvSpPr>
          <p:spPr>
            <a:xfrm flipH="false" flipV="false" rot="0">
              <a:off x="0" y="0"/>
              <a:ext cx="3580555" cy="133872"/>
            </a:xfrm>
            <a:custGeom>
              <a:avLst/>
              <a:gdLst/>
              <a:ahLst/>
              <a:cxnLst/>
              <a:rect r="r" b="b" t="t" l="l"/>
              <a:pathLst>
                <a:path h="133872" w="3580555">
                  <a:moveTo>
                    <a:pt x="0" y="0"/>
                  </a:moveTo>
                  <a:lnTo>
                    <a:pt x="3580555" y="0"/>
                  </a:lnTo>
                  <a:lnTo>
                    <a:pt x="3580555" y="133872"/>
                  </a:lnTo>
                  <a:lnTo>
                    <a:pt x="0" y="133872"/>
                  </a:lnTo>
                  <a:close/>
                </a:path>
              </a:pathLst>
            </a:custGeom>
            <a:solidFill>
              <a:srgbClr val="CDE4EA"/>
            </a:solidFill>
          </p:spPr>
        </p:sp>
        <p:sp>
          <p:nvSpPr>
            <p:cNvPr name="TextBox 16" id="16"/>
            <p:cNvSpPr txBox="true"/>
            <p:nvPr/>
          </p:nvSpPr>
          <p:spPr>
            <a:xfrm>
              <a:off x="0" y="28575"/>
              <a:ext cx="3580555" cy="105297"/>
            </a:xfrm>
            <a:prstGeom prst="rect">
              <a:avLst/>
            </a:prstGeom>
          </p:spPr>
          <p:txBody>
            <a:bodyPr anchor="ctr" rtlCol="false" tIns="50800" lIns="50800" bIns="50800" rIns="50800"/>
            <a:lstStyle/>
            <a:p>
              <a:pPr algn="ctr">
                <a:lnSpc>
                  <a:spcPts val="2661"/>
                </a:lnSpc>
              </a:pPr>
            </a:p>
          </p:txBody>
        </p:sp>
      </p:grpSp>
      <p:grpSp>
        <p:nvGrpSpPr>
          <p:cNvPr name="Group 17" id="17"/>
          <p:cNvGrpSpPr/>
          <p:nvPr/>
        </p:nvGrpSpPr>
        <p:grpSpPr>
          <a:xfrm rot="0">
            <a:off x="2344553" y="8590595"/>
            <a:ext cx="13596245" cy="511668"/>
            <a:chOff x="0" y="0"/>
            <a:chExt cx="3580904" cy="134760"/>
          </a:xfrm>
        </p:grpSpPr>
        <p:sp>
          <p:nvSpPr>
            <p:cNvPr name="Freeform 18" id="18"/>
            <p:cNvSpPr/>
            <p:nvPr/>
          </p:nvSpPr>
          <p:spPr>
            <a:xfrm flipH="false" flipV="false" rot="0">
              <a:off x="0" y="0"/>
              <a:ext cx="3580904" cy="134760"/>
            </a:xfrm>
            <a:custGeom>
              <a:avLst/>
              <a:gdLst/>
              <a:ahLst/>
              <a:cxnLst/>
              <a:rect r="r" b="b" t="t" l="l"/>
              <a:pathLst>
                <a:path h="134760" w="3580904">
                  <a:moveTo>
                    <a:pt x="0" y="0"/>
                  </a:moveTo>
                  <a:lnTo>
                    <a:pt x="3580904" y="0"/>
                  </a:lnTo>
                  <a:lnTo>
                    <a:pt x="3580904" y="134760"/>
                  </a:lnTo>
                  <a:lnTo>
                    <a:pt x="0" y="134760"/>
                  </a:lnTo>
                  <a:close/>
                </a:path>
              </a:pathLst>
            </a:custGeom>
            <a:solidFill>
              <a:srgbClr val="CDE4EA"/>
            </a:solidFill>
          </p:spPr>
        </p:sp>
        <p:sp>
          <p:nvSpPr>
            <p:cNvPr name="TextBox 19" id="19"/>
            <p:cNvSpPr txBox="true"/>
            <p:nvPr/>
          </p:nvSpPr>
          <p:spPr>
            <a:xfrm>
              <a:off x="0" y="28575"/>
              <a:ext cx="3580904" cy="106185"/>
            </a:xfrm>
            <a:prstGeom prst="rect">
              <a:avLst/>
            </a:prstGeom>
          </p:spPr>
          <p:txBody>
            <a:bodyPr anchor="ctr" rtlCol="false" tIns="50800" lIns="50800" bIns="50800" rIns="50800"/>
            <a:lstStyle/>
            <a:p>
              <a:pPr algn="ctr">
                <a:lnSpc>
                  <a:spcPts val="2661"/>
                </a:lnSpc>
              </a:pPr>
            </a:p>
          </p:txBody>
        </p:sp>
      </p:grpSp>
      <p:sp>
        <p:nvSpPr>
          <p:cNvPr name="TextBox 20" id="20"/>
          <p:cNvSpPr txBox="true"/>
          <p:nvPr/>
        </p:nvSpPr>
        <p:spPr>
          <a:xfrm rot="0">
            <a:off x="2345878" y="6694846"/>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P4          0                3                  0                 0                3                     3                 PASS </a:t>
            </a:r>
          </a:p>
        </p:txBody>
      </p:sp>
      <p:sp>
        <p:nvSpPr>
          <p:cNvPr name="TextBox 21" id="21"/>
          <p:cNvSpPr txBox="true"/>
          <p:nvPr/>
        </p:nvSpPr>
        <p:spPr>
          <a:xfrm rot="0">
            <a:off x="2370877" y="6040431"/>
            <a:ext cx="17696266" cy="356792"/>
          </a:xfrm>
          <a:prstGeom prst="rect">
            <a:avLst/>
          </a:prstGeom>
        </p:spPr>
        <p:txBody>
          <a:bodyPr anchor="t" rtlCol="false" tIns="0" lIns="0" bIns="0" rIns="0">
            <a:spAutoFit/>
          </a:bodyPr>
          <a:lstStyle/>
          <a:p>
            <a:pPr algn="l">
              <a:lnSpc>
                <a:spcPts val="2661"/>
              </a:lnSpc>
              <a:spcBef>
                <a:spcPct val="0"/>
              </a:spcBef>
            </a:pPr>
            <a:r>
              <a:rPr lang="en-US" sz="2558">
                <a:solidFill>
                  <a:srgbClr val="000000"/>
                </a:solidFill>
                <a:latin typeface="Raleway"/>
                <a:ea typeface="Raleway"/>
                <a:cs typeface="Raleway"/>
                <a:sym typeface="Raleway"/>
              </a:rPr>
              <a:t>PID      Arrival         Burst         WT sách      WT app     TAT sách        TAT app          Kết quả</a:t>
            </a:r>
          </a:p>
        </p:txBody>
      </p:sp>
      <p:sp>
        <p:nvSpPr>
          <p:cNvPr name="TextBox 22" id="22"/>
          <p:cNvSpPr txBox="true"/>
          <p:nvPr/>
        </p:nvSpPr>
        <p:spPr>
          <a:xfrm rot="0">
            <a:off x="2345878" y="7305180"/>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P1          0                6                  3                 3                9                     9                 PASS </a:t>
            </a:r>
          </a:p>
        </p:txBody>
      </p:sp>
      <p:sp>
        <p:nvSpPr>
          <p:cNvPr name="TextBox 23" id="23"/>
          <p:cNvSpPr txBox="true"/>
          <p:nvPr/>
        </p:nvSpPr>
        <p:spPr>
          <a:xfrm rot="0">
            <a:off x="2345878" y="8018361"/>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P3          0                7                  9                 9               16                   16                PASS </a:t>
            </a:r>
          </a:p>
        </p:txBody>
      </p:sp>
      <p:sp>
        <p:nvSpPr>
          <p:cNvPr name="TextBox 24" id="24"/>
          <p:cNvSpPr txBox="true"/>
          <p:nvPr/>
        </p:nvSpPr>
        <p:spPr>
          <a:xfrm rot="0">
            <a:off x="2344553" y="8628695"/>
            <a:ext cx="13594920" cy="381734"/>
          </a:xfrm>
          <a:prstGeom prst="rect">
            <a:avLst/>
          </a:prstGeom>
        </p:spPr>
        <p:txBody>
          <a:bodyPr anchor="t" rtlCol="false" tIns="0" lIns="0" bIns="0" rIns="0">
            <a:spAutoFit/>
          </a:bodyPr>
          <a:lstStyle/>
          <a:p>
            <a:pPr algn="l">
              <a:lnSpc>
                <a:spcPts val="2899"/>
              </a:lnSpc>
              <a:spcBef>
                <a:spcPct val="0"/>
              </a:spcBef>
            </a:pPr>
            <a:r>
              <a:rPr lang="en-US" sz="2787">
                <a:solidFill>
                  <a:srgbClr val="000000"/>
                </a:solidFill>
                <a:latin typeface="Raleway"/>
                <a:ea typeface="Raleway"/>
                <a:cs typeface="Raleway"/>
                <a:sym typeface="Raleway"/>
              </a:rPr>
              <a:t>    P2          0                8                 16                16              24                   24               PASS </a:t>
            </a:r>
          </a:p>
        </p:txBody>
      </p:sp>
      <p:sp>
        <p:nvSpPr>
          <p:cNvPr name="TextBox 25" id="25"/>
          <p:cNvSpPr txBox="true"/>
          <p:nvPr/>
        </p:nvSpPr>
        <p:spPr>
          <a:xfrm rot="0">
            <a:off x="6430687" y="9388013"/>
            <a:ext cx="7742439" cy="690167"/>
          </a:xfrm>
          <a:prstGeom prst="rect">
            <a:avLst/>
          </a:prstGeom>
        </p:spPr>
        <p:txBody>
          <a:bodyPr anchor="t" rtlCol="false" tIns="0" lIns="0" bIns="0" rIns="0">
            <a:spAutoFit/>
          </a:bodyPr>
          <a:lstStyle/>
          <a:p>
            <a:pPr algn="l">
              <a:lnSpc>
                <a:spcPts val="2661"/>
              </a:lnSpc>
            </a:pPr>
            <a:r>
              <a:rPr lang="en-US" sz="2558">
                <a:solidFill>
                  <a:srgbClr val="000000"/>
                </a:solidFill>
                <a:latin typeface="Raleway"/>
                <a:ea typeface="Raleway"/>
                <a:cs typeface="Raleway"/>
                <a:sym typeface="Raleway"/>
              </a:rPr>
              <a:t>Avg WT = 7.00  | Avg TAT = 13.00 </a:t>
            </a:r>
          </a:p>
          <a:p>
            <a:pPr algn="ctr">
              <a:lnSpc>
                <a:spcPts val="2661"/>
              </a:lnSpc>
              <a:spcBef>
                <a:spcPct val="0"/>
              </a:spcBef>
            </a:pP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grpSp>
        <p:nvGrpSpPr>
          <p:cNvPr name="Group 6" id="6"/>
          <p:cNvGrpSpPr/>
          <p:nvPr/>
        </p:nvGrpSpPr>
        <p:grpSpPr>
          <a:xfrm rot="0">
            <a:off x="1064299" y="3028567"/>
            <a:ext cx="4936762" cy="1524000"/>
            <a:chOff x="0" y="0"/>
            <a:chExt cx="6582349" cy="2032000"/>
          </a:xfrm>
        </p:grpSpPr>
        <p:sp>
          <p:nvSpPr>
            <p:cNvPr name="Freeform 7" id="7"/>
            <p:cNvSpPr/>
            <p:nvPr/>
          </p:nvSpPr>
          <p:spPr>
            <a:xfrm flipH="false" flipV="false" rot="0">
              <a:off x="0" y="0"/>
              <a:ext cx="6582349" cy="1930400"/>
            </a:xfrm>
            <a:custGeom>
              <a:avLst/>
              <a:gdLst/>
              <a:ahLst/>
              <a:cxnLst/>
              <a:rect r="r" b="b" t="t" l="l"/>
              <a:pathLst>
                <a:path h="1930400" w="6582349">
                  <a:moveTo>
                    <a:pt x="0" y="0"/>
                  </a:moveTo>
                  <a:lnTo>
                    <a:pt x="6582349" y="0"/>
                  </a:lnTo>
                  <a:lnTo>
                    <a:pt x="6582349" y="1930400"/>
                  </a:lnTo>
                  <a:lnTo>
                    <a:pt x="0" y="1930400"/>
                  </a:lnTo>
                  <a:close/>
                </a:path>
              </a:pathLst>
            </a:custGeom>
            <a:solidFill>
              <a:srgbClr val="C991FF"/>
            </a:solidFill>
          </p:spPr>
        </p:sp>
        <p:sp>
          <p:nvSpPr>
            <p:cNvPr name="Freeform 8" id="8"/>
            <p:cNvSpPr/>
            <p:nvPr/>
          </p:nvSpPr>
          <p:spPr>
            <a:xfrm flipH="false" flipV="false" rot="0">
              <a:off x="0" y="0"/>
              <a:ext cx="6582349" cy="2032000"/>
            </a:xfrm>
            <a:custGeom>
              <a:avLst/>
              <a:gdLst/>
              <a:ahLst/>
              <a:cxnLst/>
              <a:rect r="r" b="b" t="t" l="l"/>
              <a:pathLst>
                <a:path h="2032000" w="6582349">
                  <a:moveTo>
                    <a:pt x="0" y="1930400"/>
                  </a:moveTo>
                  <a:lnTo>
                    <a:pt x="6582349" y="1930400"/>
                  </a:lnTo>
                  <a:lnTo>
                    <a:pt x="6455349" y="2032000"/>
                  </a:lnTo>
                  <a:cubicBezTo>
                    <a:pt x="6455349" y="2032000"/>
                    <a:pt x="5464749" y="1955800"/>
                    <a:pt x="5363149" y="1955800"/>
                  </a:cubicBezTo>
                  <a:lnTo>
                    <a:pt x="1219200" y="1955800"/>
                  </a:lnTo>
                  <a:cubicBezTo>
                    <a:pt x="1117600" y="1955800"/>
                    <a:pt x="127000" y="2032000"/>
                    <a:pt x="127000" y="2032000"/>
                  </a:cubicBezTo>
                  <a:lnTo>
                    <a:pt x="0" y="1930400"/>
                  </a:lnTo>
                  <a:lnTo>
                    <a:pt x="0" y="0"/>
                  </a:lnTo>
                  <a:lnTo>
                    <a:pt x="6582349" y="0"/>
                  </a:lnTo>
                  <a:lnTo>
                    <a:pt x="6582349" y="1930400"/>
                  </a:lnTo>
                  <a:lnTo>
                    <a:pt x="12700" y="1930400"/>
                  </a:lnTo>
                  <a:lnTo>
                    <a:pt x="12700" y="1917700"/>
                  </a:lnTo>
                  <a:lnTo>
                    <a:pt x="6569649" y="1917700"/>
                  </a:lnTo>
                  <a:lnTo>
                    <a:pt x="6569649" y="12700"/>
                  </a:lnTo>
                  <a:lnTo>
                    <a:pt x="12700" y="12700"/>
                  </a:lnTo>
                  <a:lnTo>
                    <a:pt x="12700" y="1930400"/>
                  </a:lnTo>
                </a:path>
              </a:pathLst>
            </a:custGeom>
            <a:solidFill>
              <a:srgbClr val="394C60">
                <a:alpha val="784"/>
              </a:srgbClr>
            </a:solidFill>
          </p:spPr>
        </p:sp>
        <p:sp>
          <p:nvSpPr>
            <p:cNvPr name="TextBox 9" id="9"/>
            <p:cNvSpPr txBox="true"/>
            <p:nvPr/>
          </p:nvSpPr>
          <p:spPr>
            <a:xfrm>
              <a:off x="0" y="-57150"/>
              <a:ext cx="6582349" cy="1987550"/>
            </a:xfrm>
            <a:prstGeom prst="rect">
              <a:avLst/>
            </a:prstGeom>
          </p:spPr>
          <p:txBody>
            <a:bodyPr anchor="t" rtlCol="false" tIns="203200" lIns="203200" bIns="203200" rIns="203200"/>
            <a:lstStyle/>
            <a:p>
              <a:pPr algn="ctr">
                <a:lnSpc>
                  <a:spcPts val="3503"/>
                </a:lnSpc>
              </a:pPr>
              <a:r>
                <a:rPr lang="en-US" sz="2502" b="true">
                  <a:solidFill>
                    <a:srgbClr val="000000"/>
                  </a:solidFill>
                  <a:latin typeface="Canva Sans Bold"/>
                  <a:ea typeface="Canva Sans Bold"/>
                  <a:cs typeface="Canva Sans Bold"/>
                  <a:sym typeface="Canva Sans Bold"/>
                </a:rPr>
                <a:t>INPUT LAYER</a:t>
              </a:r>
            </a:p>
            <a:p>
              <a:pPr algn="ctr">
                <a:lnSpc>
                  <a:spcPts val="2663"/>
                </a:lnSpc>
              </a:pPr>
              <a:r>
                <a:rPr lang="en-US" sz="1902">
                  <a:solidFill>
                    <a:srgbClr val="000000"/>
                  </a:solidFill>
                  <a:latin typeface="Canva Sans"/>
                  <a:ea typeface="Canva Sans"/>
                  <a:cs typeface="Canva Sans"/>
                  <a:sym typeface="Canva Sans"/>
                </a:rPr>
                <a:t>Process Input (CSV file)</a:t>
              </a:r>
            </a:p>
          </p:txBody>
        </p:sp>
      </p:grpSp>
      <p:grpSp>
        <p:nvGrpSpPr>
          <p:cNvPr name="Group 10" id="10"/>
          <p:cNvGrpSpPr/>
          <p:nvPr/>
        </p:nvGrpSpPr>
        <p:grpSpPr>
          <a:xfrm rot="0">
            <a:off x="6772624" y="2603181"/>
            <a:ext cx="5067688" cy="1524000"/>
            <a:chOff x="0" y="0"/>
            <a:chExt cx="6756917" cy="2032000"/>
          </a:xfrm>
        </p:grpSpPr>
        <p:sp>
          <p:nvSpPr>
            <p:cNvPr name="Freeform 11" id="11"/>
            <p:cNvSpPr/>
            <p:nvPr/>
          </p:nvSpPr>
          <p:spPr>
            <a:xfrm flipH="false" flipV="false" rot="0">
              <a:off x="0" y="0"/>
              <a:ext cx="6756917" cy="1930400"/>
            </a:xfrm>
            <a:custGeom>
              <a:avLst/>
              <a:gdLst/>
              <a:ahLst/>
              <a:cxnLst/>
              <a:rect r="r" b="b" t="t" l="l"/>
              <a:pathLst>
                <a:path h="1930400" w="6756917">
                  <a:moveTo>
                    <a:pt x="0" y="0"/>
                  </a:moveTo>
                  <a:lnTo>
                    <a:pt x="6756917" y="0"/>
                  </a:lnTo>
                  <a:lnTo>
                    <a:pt x="6756917" y="1930400"/>
                  </a:lnTo>
                  <a:lnTo>
                    <a:pt x="0" y="1930400"/>
                  </a:lnTo>
                  <a:close/>
                </a:path>
              </a:pathLst>
            </a:custGeom>
            <a:solidFill>
              <a:srgbClr val="FDF9B4"/>
            </a:solidFill>
          </p:spPr>
        </p:sp>
        <p:sp>
          <p:nvSpPr>
            <p:cNvPr name="Freeform 12" id="12"/>
            <p:cNvSpPr/>
            <p:nvPr/>
          </p:nvSpPr>
          <p:spPr>
            <a:xfrm flipH="false" flipV="false" rot="0">
              <a:off x="0" y="0"/>
              <a:ext cx="6756917" cy="2032000"/>
            </a:xfrm>
            <a:custGeom>
              <a:avLst/>
              <a:gdLst/>
              <a:ahLst/>
              <a:cxnLst/>
              <a:rect r="r" b="b" t="t" l="l"/>
              <a:pathLst>
                <a:path h="2032000" w="6756917">
                  <a:moveTo>
                    <a:pt x="0" y="1930400"/>
                  </a:moveTo>
                  <a:lnTo>
                    <a:pt x="6756917" y="1930400"/>
                  </a:lnTo>
                  <a:lnTo>
                    <a:pt x="6629917" y="2032000"/>
                  </a:lnTo>
                  <a:cubicBezTo>
                    <a:pt x="6629917" y="2032000"/>
                    <a:pt x="5639317" y="1955800"/>
                    <a:pt x="5537717" y="1955800"/>
                  </a:cubicBezTo>
                  <a:lnTo>
                    <a:pt x="1219200" y="1955800"/>
                  </a:lnTo>
                  <a:cubicBezTo>
                    <a:pt x="1117600" y="1955800"/>
                    <a:pt x="127000" y="2032000"/>
                    <a:pt x="127000" y="2032000"/>
                  </a:cubicBezTo>
                  <a:lnTo>
                    <a:pt x="0" y="1930400"/>
                  </a:lnTo>
                  <a:lnTo>
                    <a:pt x="0" y="0"/>
                  </a:lnTo>
                  <a:lnTo>
                    <a:pt x="6756917" y="0"/>
                  </a:lnTo>
                  <a:lnTo>
                    <a:pt x="6756917" y="1930400"/>
                  </a:lnTo>
                  <a:lnTo>
                    <a:pt x="12700" y="1930400"/>
                  </a:lnTo>
                  <a:lnTo>
                    <a:pt x="12700" y="1917700"/>
                  </a:lnTo>
                  <a:lnTo>
                    <a:pt x="6744217" y="1917700"/>
                  </a:lnTo>
                  <a:lnTo>
                    <a:pt x="6744217" y="12700"/>
                  </a:lnTo>
                  <a:lnTo>
                    <a:pt x="12700" y="12700"/>
                  </a:lnTo>
                  <a:lnTo>
                    <a:pt x="12700" y="1930400"/>
                  </a:lnTo>
                </a:path>
              </a:pathLst>
            </a:custGeom>
            <a:solidFill>
              <a:srgbClr val="394C60">
                <a:alpha val="784"/>
              </a:srgbClr>
            </a:solidFill>
          </p:spPr>
        </p:sp>
        <p:sp>
          <p:nvSpPr>
            <p:cNvPr name="TextBox 13" id="13"/>
            <p:cNvSpPr txBox="true"/>
            <p:nvPr/>
          </p:nvSpPr>
          <p:spPr>
            <a:xfrm>
              <a:off x="0" y="-57150"/>
              <a:ext cx="6756917" cy="1987550"/>
            </a:xfrm>
            <a:prstGeom prst="rect">
              <a:avLst/>
            </a:prstGeom>
          </p:spPr>
          <p:txBody>
            <a:bodyPr anchor="t" rtlCol="false" tIns="203200" lIns="203200" bIns="203200" rIns="203200"/>
            <a:lstStyle/>
            <a:p>
              <a:pPr algn="ctr">
                <a:lnSpc>
                  <a:spcPts val="3503"/>
                </a:lnSpc>
              </a:pPr>
              <a:r>
                <a:rPr lang="en-US" sz="2502" b="true">
                  <a:solidFill>
                    <a:srgbClr val="000000"/>
                  </a:solidFill>
                  <a:latin typeface="Canva Sans Bold"/>
                  <a:ea typeface="Canva Sans Bold"/>
                  <a:cs typeface="Canva Sans Bold"/>
                  <a:sym typeface="Canva Sans Bold"/>
                </a:rPr>
                <a:t>CORE ENGINE</a:t>
              </a:r>
            </a:p>
            <a:p>
              <a:pPr algn="ctr">
                <a:lnSpc>
                  <a:spcPts val="2663"/>
                </a:lnSpc>
              </a:pPr>
              <a:r>
                <a:rPr lang="en-US" sz="1902">
                  <a:solidFill>
                    <a:srgbClr val="000000"/>
                  </a:solidFill>
                  <a:latin typeface="Canva Sans"/>
                  <a:ea typeface="Canva Sans"/>
                  <a:cs typeface="Canva Sans"/>
                  <a:sym typeface="Canva Sans"/>
                </a:rPr>
                <a:t>Scheduling Algorithms</a:t>
              </a:r>
            </a:p>
          </p:txBody>
        </p:sp>
      </p:grpSp>
      <p:grpSp>
        <p:nvGrpSpPr>
          <p:cNvPr name="Group 14" id="14"/>
          <p:cNvGrpSpPr/>
          <p:nvPr/>
        </p:nvGrpSpPr>
        <p:grpSpPr>
          <a:xfrm rot="0">
            <a:off x="12518927" y="3028567"/>
            <a:ext cx="5002225" cy="1531168"/>
            <a:chOff x="0" y="0"/>
            <a:chExt cx="6669633" cy="2041557"/>
          </a:xfrm>
        </p:grpSpPr>
        <p:sp>
          <p:nvSpPr>
            <p:cNvPr name="Freeform 15" id="15"/>
            <p:cNvSpPr/>
            <p:nvPr/>
          </p:nvSpPr>
          <p:spPr>
            <a:xfrm flipH="false" flipV="false" rot="0">
              <a:off x="0" y="0"/>
              <a:ext cx="6669633" cy="1939957"/>
            </a:xfrm>
            <a:custGeom>
              <a:avLst/>
              <a:gdLst/>
              <a:ahLst/>
              <a:cxnLst/>
              <a:rect r="r" b="b" t="t" l="l"/>
              <a:pathLst>
                <a:path h="1939957" w="6669633">
                  <a:moveTo>
                    <a:pt x="0" y="0"/>
                  </a:moveTo>
                  <a:lnTo>
                    <a:pt x="6669633" y="0"/>
                  </a:lnTo>
                  <a:lnTo>
                    <a:pt x="6669633" y="1939957"/>
                  </a:lnTo>
                  <a:lnTo>
                    <a:pt x="0" y="1939957"/>
                  </a:lnTo>
                  <a:close/>
                </a:path>
              </a:pathLst>
            </a:custGeom>
            <a:solidFill>
              <a:srgbClr val="5DD586"/>
            </a:solidFill>
          </p:spPr>
        </p:sp>
        <p:sp>
          <p:nvSpPr>
            <p:cNvPr name="Freeform 16" id="16"/>
            <p:cNvSpPr/>
            <p:nvPr/>
          </p:nvSpPr>
          <p:spPr>
            <a:xfrm flipH="false" flipV="false" rot="0">
              <a:off x="0" y="0"/>
              <a:ext cx="6669633" cy="2041557"/>
            </a:xfrm>
            <a:custGeom>
              <a:avLst/>
              <a:gdLst/>
              <a:ahLst/>
              <a:cxnLst/>
              <a:rect r="r" b="b" t="t" l="l"/>
              <a:pathLst>
                <a:path h="2041557" w="6669633">
                  <a:moveTo>
                    <a:pt x="0" y="1939957"/>
                  </a:moveTo>
                  <a:lnTo>
                    <a:pt x="6669633" y="1939957"/>
                  </a:lnTo>
                  <a:lnTo>
                    <a:pt x="6542633" y="2041557"/>
                  </a:lnTo>
                  <a:cubicBezTo>
                    <a:pt x="6542633" y="2041557"/>
                    <a:pt x="5552033" y="1965357"/>
                    <a:pt x="5450433" y="1965357"/>
                  </a:cubicBezTo>
                  <a:lnTo>
                    <a:pt x="1219200" y="1965357"/>
                  </a:lnTo>
                  <a:cubicBezTo>
                    <a:pt x="1117600" y="1965357"/>
                    <a:pt x="127000" y="2041557"/>
                    <a:pt x="127000" y="2041557"/>
                  </a:cubicBezTo>
                  <a:lnTo>
                    <a:pt x="0" y="1939957"/>
                  </a:lnTo>
                  <a:lnTo>
                    <a:pt x="0" y="0"/>
                  </a:lnTo>
                  <a:lnTo>
                    <a:pt x="6669633" y="0"/>
                  </a:lnTo>
                  <a:lnTo>
                    <a:pt x="6669633" y="1939957"/>
                  </a:lnTo>
                  <a:lnTo>
                    <a:pt x="12700" y="1939957"/>
                  </a:lnTo>
                  <a:lnTo>
                    <a:pt x="12700" y="1927257"/>
                  </a:lnTo>
                  <a:lnTo>
                    <a:pt x="6656933" y="1927257"/>
                  </a:lnTo>
                  <a:lnTo>
                    <a:pt x="6656933" y="12700"/>
                  </a:lnTo>
                  <a:lnTo>
                    <a:pt x="12700" y="12700"/>
                  </a:lnTo>
                  <a:lnTo>
                    <a:pt x="12700" y="1939957"/>
                  </a:lnTo>
                </a:path>
              </a:pathLst>
            </a:custGeom>
            <a:solidFill>
              <a:srgbClr val="394C60">
                <a:alpha val="784"/>
              </a:srgbClr>
            </a:solidFill>
          </p:spPr>
        </p:sp>
        <p:sp>
          <p:nvSpPr>
            <p:cNvPr name="TextBox 17" id="17"/>
            <p:cNvSpPr txBox="true"/>
            <p:nvPr/>
          </p:nvSpPr>
          <p:spPr>
            <a:xfrm>
              <a:off x="0" y="-57150"/>
              <a:ext cx="6669633" cy="1997107"/>
            </a:xfrm>
            <a:prstGeom prst="rect">
              <a:avLst/>
            </a:prstGeom>
          </p:spPr>
          <p:txBody>
            <a:bodyPr anchor="t" rtlCol="false" tIns="203200" lIns="203200" bIns="203200" rIns="203200"/>
            <a:lstStyle/>
            <a:p>
              <a:pPr algn="ctr">
                <a:lnSpc>
                  <a:spcPts val="3503"/>
                </a:lnSpc>
              </a:pPr>
              <a:r>
                <a:rPr lang="en-US" sz="2502" b="true">
                  <a:solidFill>
                    <a:srgbClr val="000000"/>
                  </a:solidFill>
                  <a:latin typeface="Canva Sans Bold"/>
                  <a:ea typeface="Canva Sans Bold"/>
                  <a:cs typeface="Canva Sans Bold"/>
                  <a:sym typeface="Canva Sans Bold"/>
                </a:rPr>
                <a:t>OUTPUT LAYER</a:t>
              </a:r>
            </a:p>
            <a:p>
              <a:pPr algn="ctr">
                <a:lnSpc>
                  <a:spcPts val="2663"/>
                </a:lnSpc>
              </a:pPr>
              <a:r>
                <a:rPr lang="en-US" sz="1902">
                  <a:solidFill>
                    <a:srgbClr val="000000"/>
                  </a:solidFill>
                  <a:latin typeface="Canva Sans"/>
                  <a:ea typeface="Canva Sans"/>
                  <a:cs typeface="Canva Sans"/>
                  <a:sym typeface="Canva Sans"/>
                </a:rPr>
                <a:t>CSV Exporter + Visualization + User Interface</a:t>
              </a:r>
            </a:p>
          </p:txBody>
        </p:sp>
      </p:grpSp>
      <p:grpSp>
        <p:nvGrpSpPr>
          <p:cNvPr name="Group 18" id="18"/>
          <p:cNvGrpSpPr/>
          <p:nvPr/>
        </p:nvGrpSpPr>
        <p:grpSpPr>
          <a:xfrm rot="0">
            <a:off x="1064299" y="4674050"/>
            <a:ext cx="4972361" cy="2428573"/>
            <a:chOff x="0" y="0"/>
            <a:chExt cx="6629814" cy="3238097"/>
          </a:xfrm>
        </p:grpSpPr>
        <p:sp>
          <p:nvSpPr>
            <p:cNvPr name="Freeform 19" id="19"/>
            <p:cNvSpPr/>
            <p:nvPr/>
          </p:nvSpPr>
          <p:spPr>
            <a:xfrm flipH="false" flipV="false" rot="0">
              <a:off x="0" y="0"/>
              <a:ext cx="6629814" cy="3136497"/>
            </a:xfrm>
            <a:custGeom>
              <a:avLst/>
              <a:gdLst/>
              <a:ahLst/>
              <a:cxnLst/>
              <a:rect r="r" b="b" t="t" l="l"/>
              <a:pathLst>
                <a:path h="3136497" w="6629814">
                  <a:moveTo>
                    <a:pt x="0" y="0"/>
                  </a:moveTo>
                  <a:lnTo>
                    <a:pt x="6629814" y="0"/>
                  </a:lnTo>
                  <a:lnTo>
                    <a:pt x="6629814" y="3136497"/>
                  </a:lnTo>
                  <a:lnTo>
                    <a:pt x="0" y="3136497"/>
                  </a:lnTo>
                  <a:close/>
                </a:path>
              </a:pathLst>
            </a:custGeom>
            <a:solidFill>
              <a:srgbClr val="FEFEFE"/>
            </a:solidFill>
          </p:spPr>
        </p:sp>
        <p:sp>
          <p:nvSpPr>
            <p:cNvPr name="Freeform 20" id="20"/>
            <p:cNvSpPr/>
            <p:nvPr/>
          </p:nvSpPr>
          <p:spPr>
            <a:xfrm flipH="false" flipV="false" rot="0">
              <a:off x="0" y="0"/>
              <a:ext cx="6629814" cy="3238097"/>
            </a:xfrm>
            <a:custGeom>
              <a:avLst/>
              <a:gdLst/>
              <a:ahLst/>
              <a:cxnLst/>
              <a:rect r="r" b="b" t="t" l="l"/>
              <a:pathLst>
                <a:path h="3238097" w="6629814">
                  <a:moveTo>
                    <a:pt x="0" y="3136497"/>
                  </a:moveTo>
                  <a:lnTo>
                    <a:pt x="6629814" y="3136497"/>
                  </a:lnTo>
                  <a:lnTo>
                    <a:pt x="6502814" y="3238097"/>
                  </a:lnTo>
                  <a:cubicBezTo>
                    <a:pt x="6502814" y="3238097"/>
                    <a:pt x="5512214" y="3161897"/>
                    <a:pt x="5410614" y="3161897"/>
                  </a:cubicBezTo>
                  <a:lnTo>
                    <a:pt x="1219200" y="3161897"/>
                  </a:lnTo>
                  <a:cubicBezTo>
                    <a:pt x="1117600" y="3161897"/>
                    <a:pt x="127000" y="3238097"/>
                    <a:pt x="127000" y="3238097"/>
                  </a:cubicBezTo>
                  <a:lnTo>
                    <a:pt x="0" y="3136497"/>
                  </a:lnTo>
                  <a:lnTo>
                    <a:pt x="0" y="0"/>
                  </a:lnTo>
                  <a:lnTo>
                    <a:pt x="6629814" y="0"/>
                  </a:lnTo>
                  <a:lnTo>
                    <a:pt x="6629814" y="3136497"/>
                  </a:lnTo>
                  <a:lnTo>
                    <a:pt x="12700" y="3136497"/>
                  </a:lnTo>
                  <a:lnTo>
                    <a:pt x="12700" y="3123797"/>
                  </a:lnTo>
                  <a:lnTo>
                    <a:pt x="6617114" y="3123797"/>
                  </a:lnTo>
                  <a:lnTo>
                    <a:pt x="6617114" y="12700"/>
                  </a:lnTo>
                  <a:lnTo>
                    <a:pt x="12700" y="12700"/>
                  </a:lnTo>
                  <a:lnTo>
                    <a:pt x="12700" y="3136497"/>
                  </a:lnTo>
                </a:path>
              </a:pathLst>
            </a:custGeom>
            <a:solidFill>
              <a:srgbClr val="394C60">
                <a:alpha val="784"/>
              </a:srgbClr>
            </a:solidFill>
          </p:spPr>
        </p:sp>
        <p:sp>
          <p:nvSpPr>
            <p:cNvPr name="TextBox 21" id="21"/>
            <p:cNvSpPr txBox="true"/>
            <p:nvPr/>
          </p:nvSpPr>
          <p:spPr>
            <a:xfrm>
              <a:off x="0" y="-47625"/>
              <a:ext cx="6629814" cy="3184122"/>
            </a:xfrm>
            <a:prstGeom prst="rect">
              <a:avLst/>
            </a:prstGeom>
          </p:spPr>
          <p:txBody>
            <a:bodyPr anchor="t" rtlCol="false" tIns="203200" lIns="203200" bIns="203200" rIns="203200"/>
            <a:lstStyle/>
            <a:p>
              <a:pPr algn="ctr">
                <a:lnSpc>
                  <a:spcPts val="3223"/>
                </a:lnSpc>
              </a:pPr>
              <a:r>
                <a:rPr lang="en-US" sz="2302" b="true">
                  <a:solidFill>
                    <a:srgbClr val="000000"/>
                  </a:solidFill>
                  <a:latin typeface="Canva Sans Bold"/>
                  <a:ea typeface="Canva Sans Bold"/>
                  <a:cs typeface="Canva Sans Bold"/>
                  <a:sym typeface="Canva Sans Bold"/>
                </a:rPr>
                <a:t>Process Input (CSV File)</a:t>
              </a:r>
            </a:p>
            <a:p>
              <a:pPr algn="l" marL="497162" indent="-248581" lvl="1">
                <a:lnSpc>
                  <a:spcPts val="3223"/>
                </a:lnSpc>
                <a:buFont typeface="Arial"/>
                <a:buChar char="•"/>
              </a:pPr>
              <a:r>
                <a:rPr lang="en-US" sz="2302">
                  <a:solidFill>
                    <a:srgbClr val="000000"/>
                  </a:solidFill>
                  <a:latin typeface="Canva Sans"/>
                  <a:ea typeface="Canva Sans"/>
                  <a:cs typeface="Canva Sans"/>
                  <a:sym typeface="Canva Sans"/>
                </a:rPr>
                <a:t>Dữ liệu đầu vào từ file input.csv</a:t>
              </a:r>
            </a:p>
            <a:p>
              <a:pPr algn="l" marL="497162" indent="-248581" lvl="1">
                <a:lnSpc>
                  <a:spcPts val="3223"/>
                </a:lnSpc>
                <a:buFont typeface="Arial"/>
                <a:buChar char="•"/>
              </a:pPr>
              <a:r>
                <a:rPr lang="en-US" sz="2302">
                  <a:solidFill>
                    <a:srgbClr val="000000"/>
                  </a:solidFill>
                  <a:latin typeface="Canva Sans"/>
                  <a:ea typeface="Canva Sans"/>
                  <a:cs typeface="Canva Sans"/>
                  <a:sym typeface="Canva Sans"/>
                </a:rPr>
                <a:t>Bao gồm: PID, Arrival Time, Brust Time</a:t>
              </a:r>
            </a:p>
          </p:txBody>
        </p:sp>
      </p:grpSp>
      <p:grpSp>
        <p:nvGrpSpPr>
          <p:cNvPr name="Group 22" id="22"/>
          <p:cNvGrpSpPr/>
          <p:nvPr/>
        </p:nvGrpSpPr>
        <p:grpSpPr>
          <a:xfrm rot="0">
            <a:off x="1064299" y="7226448"/>
            <a:ext cx="4972361" cy="2028523"/>
            <a:chOff x="0" y="0"/>
            <a:chExt cx="6629814" cy="2704697"/>
          </a:xfrm>
        </p:grpSpPr>
        <p:sp>
          <p:nvSpPr>
            <p:cNvPr name="Freeform 23" id="23"/>
            <p:cNvSpPr/>
            <p:nvPr/>
          </p:nvSpPr>
          <p:spPr>
            <a:xfrm flipH="false" flipV="false" rot="0">
              <a:off x="0" y="0"/>
              <a:ext cx="6629814" cy="2603097"/>
            </a:xfrm>
            <a:custGeom>
              <a:avLst/>
              <a:gdLst/>
              <a:ahLst/>
              <a:cxnLst/>
              <a:rect r="r" b="b" t="t" l="l"/>
              <a:pathLst>
                <a:path h="2603097" w="6629814">
                  <a:moveTo>
                    <a:pt x="0" y="0"/>
                  </a:moveTo>
                  <a:lnTo>
                    <a:pt x="6629814" y="0"/>
                  </a:lnTo>
                  <a:lnTo>
                    <a:pt x="6629814" y="2603097"/>
                  </a:lnTo>
                  <a:lnTo>
                    <a:pt x="0" y="2603097"/>
                  </a:lnTo>
                  <a:close/>
                </a:path>
              </a:pathLst>
            </a:custGeom>
            <a:solidFill>
              <a:srgbClr val="FEFEFE"/>
            </a:solidFill>
          </p:spPr>
        </p:sp>
        <p:sp>
          <p:nvSpPr>
            <p:cNvPr name="Freeform 24" id="24"/>
            <p:cNvSpPr/>
            <p:nvPr/>
          </p:nvSpPr>
          <p:spPr>
            <a:xfrm flipH="false" flipV="false" rot="0">
              <a:off x="0" y="0"/>
              <a:ext cx="6629814" cy="2704697"/>
            </a:xfrm>
            <a:custGeom>
              <a:avLst/>
              <a:gdLst/>
              <a:ahLst/>
              <a:cxnLst/>
              <a:rect r="r" b="b" t="t" l="l"/>
              <a:pathLst>
                <a:path h="2704697" w="6629814">
                  <a:moveTo>
                    <a:pt x="0" y="2603097"/>
                  </a:moveTo>
                  <a:lnTo>
                    <a:pt x="6629814" y="2603097"/>
                  </a:lnTo>
                  <a:lnTo>
                    <a:pt x="6502814" y="2704697"/>
                  </a:lnTo>
                  <a:cubicBezTo>
                    <a:pt x="6502814" y="2704697"/>
                    <a:pt x="5512214" y="2628497"/>
                    <a:pt x="5410614" y="2628497"/>
                  </a:cubicBezTo>
                  <a:lnTo>
                    <a:pt x="1219200" y="2628497"/>
                  </a:lnTo>
                  <a:cubicBezTo>
                    <a:pt x="1117600" y="2628497"/>
                    <a:pt x="127000" y="2704697"/>
                    <a:pt x="127000" y="2704697"/>
                  </a:cubicBezTo>
                  <a:lnTo>
                    <a:pt x="0" y="2603097"/>
                  </a:lnTo>
                  <a:lnTo>
                    <a:pt x="0" y="0"/>
                  </a:lnTo>
                  <a:lnTo>
                    <a:pt x="6629814" y="0"/>
                  </a:lnTo>
                  <a:lnTo>
                    <a:pt x="6629814" y="2603097"/>
                  </a:lnTo>
                  <a:lnTo>
                    <a:pt x="12700" y="2603097"/>
                  </a:lnTo>
                  <a:lnTo>
                    <a:pt x="12700" y="2590397"/>
                  </a:lnTo>
                  <a:lnTo>
                    <a:pt x="6617114" y="2590397"/>
                  </a:lnTo>
                  <a:lnTo>
                    <a:pt x="6617114" y="12700"/>
                  </a:lnTo>
                  <a:lnTo>
                    <a:pt x="12700" y="12700"/>
                  </a:lnTo>
                  <a:lnTo>
                    <a:pt x="12700" y="2603097"/>
                  </a:lnTo>
                </a:path>
              </a:pathLst>
            </a:custGeom>
            <a:solidFill>
              <a:srgbClr val="394C60">
                <a:alpha val="784"/>
              </a:srgbClr>
            </a:solidFill>
          </p:spPr>
        </p:sp>
        <p:sp>
          <p:nvSpPr>
            <p:cNvPr name="TextBox 25" id="25"/>
            <p:cNvSpPr txBox="true"/>
            <p:nvPr/>
          </p:nvSpPr>
          <p:spPr>
            <a:xfrm>
              <a:off x="0" y="-47625"/>
              <a:ext cx="6629814" cy="2650722"/>
            </a:xfrm>
            <a:prstGeom prst="rect">
              <a:avLst/>
            </a:prstGeom>
          </p:spPr>
          <p:txBody>
            <a:bodyPr anchor="t" rtlCol="false" tIns="203200" lIns="203200" bIns="203200" rIns="203200"/>
            <a:lstStyle/>
            <a:p>
              <a:pPr algn="ctr">
                <a:lnSpc>
                  <a:spcPts val="3223"/>
                </a:lnSpc>
              </a:pPr>
              <a:r>
                <a:rPr lang="en-US" sz="2302" b="true">
                  <a:solidFill>
                    <a:srgbClr val="000000"/>
                  </a:solidFill>
                  <a:latin typeface="Canva Sans Bold"/>
                  <a:ea typeface="Canva Sans Bold"/>
                  <a:cs typeface="Canva Sans Bold"/>
                  <a:sym typeface="Canva Sans Bold"/>
                </a:rPr>
                <a:t>CSV Parser</a:t>
              </a:r>
            </a:p>
            <a:p>
              <a:pPr algn="l" marL="497162" indent="-248581" lvl="1">
                <a:lnSpc>
                  <a:spcPts val="3223"/>
                </a:lnSpc>
                <a:buFont typeface="Arial"/>
                <a:buChar char="•"/>
              </a:pPr>
              <a:r>
                <a:rPr lang="en-US" sz="2302">
                  <a:solidFill>
                    <a:srgbClr val="000000"/>
                  </a:solidFill>
                  <a:latin typeface="Canva Sans"/>
                  <a:ea typeface="Canva Sans"/>
                  <a:cs typeface="Canva Sans"/>
                  <a:sym typeface="Canva Sans"/>
                </a:rPr>
                <a:t>Đọc và chuyển đổi dữ liệu từ CSV</a:t>
              </a:r>
            </a:p>
            <a:p>
              <a:pPr algn="l" marL="497162" indent="-248581" lvl="1">
                <a:lnSpc>
                  <a:spcPts val="3223"/>
                </a:lnSpc>
                <a:buFont typeface="Arial"/>
                <a:buChar char="•"/>
              </a:pPr>
              <a:r>
                <a:rPr lang="en-US" sz="2302">
                  <a:solidFill>
                    <a:srgbClr val="000000"/>
                  </a:solidFill>
                  <a:latin typeface="Canva Sans"/>
                  <a:ea typeface="Canva Sans"/>
                  <a:cs typeface="Canva Sans"/>
                  <a:sym typeface="Canva Sans"/>
                </a:rPr>
                <a:t>Chuẩn hóa dữ liệu để xử lý</a:t>
              </a:r>
            </a:p>
          </p:txBody>
        </p:sp>
      </p:grpSp>
      <p:grpSp>
        <p:nvGrpSpPr>
          <p:cNvPr name="Group 26" id="26"/>
          <p:cNvGrpSpPr/>
          <p:nvPr/>
        </p:nvGrpSpPr>
        <p:grpSpPr>
          <a:xfrm rot="0">
            <a:off x="6796456" y="4127181"/>
            <a:ext cx="5020024" cy="1988368"/>
            <a:chOff x="0" y="0"/>
            <a:chExt cx="6693366" cy="2651157"/>
          </a:xfrm>
        </p:grpSpPr>
        <p:sp>
          <p:nvSpPr>
            <p:cNvPr name="Freeform 27" id="27"/>
            <p:cNvSpPr/>
            <p:nvPr/>
          </p:nvSpPr>
          <p:spPr>
            <a:xfrm flipH="false" flipV="false" rot="0">
              <a:off x="0" y="0"/>
              <a:ext cx="6693366" cy="2549557"/>
            </a:xfrm>
            <a:custGeom>
              <a:avLst/>
              <a:gdLst/>
              <a:ahLst/>
              <a:cxnLst/>
              <a:rect r="r" b="b" t="t" l="l"/>
              <a:pathLst>
                <a:path h="2549557" w="6693366">
                  <a:moveTo>
                    <a:pt x="0" y="0"/>
                  </a:moveTo>
                  <a:lnTo>
                    <a:pt x="6693366" y="0"/>
                  </a:lnTo>
                  <a:lnTo>
                    <a:pt x="6693366" y="2549557"/>
                  </a:lnTo>
                  <a:lnTo>
                    <a:pt x="0" y="2549557"/>
                  </a:lnTo>
                  <a:close/>
                </a:path>
              </a:pathLst>
            </a:custGeom>
            <a:solidFill>
              <a:srgbClr val="FEFEFE"/>
            </a:solidFill>
          </p:spPr>
        </p:sp>
        <p:sp>
          <p:nvSpPr>
            <p:cNvPr name="Freeform 28" id="28"/>
            <p:cNvSpPr/>
            <p:nvPr/>
          </p:nvSpPr>
          <p:spPr>
            <a:xfrm flipH="false" flipV="false" rot="0">
              <a:off x="0" y="0"/>
              <a:ext cx="6693366" cy="2651157"/>
            </a:xfrm>
            <a:custGeom>
              <a:avLst/>
              <a:gdLst/>
              <a:ahLst/>
              <a:cxnLst/>
              <a:rect r="r" b="b" t="t" l="l"/>
              <a:pathLst>
                <a:path h="2651157" w="6693366">
                  <a:moveTo>
                    <a:pt x="0" y="2549557"/>
                  </a:moveTo>
                  <a:lnTo>
                    <a:pt x="6693366" y="2549557"/>
                  </a:lnTo>
                  <a:lnTo>
                    <a:pt x="6566366" y="2651157"/>
                  </a:lnTo>
                  <a:cubicBezTo>
                    <a:pt x="6566366" y="2651157"/>
                    <a:pt x="5575765" y="2574957"/>
                    <a:pt x="5474165" y="2574957"/>
                  </a:cubicBezTo>
                  <a:lnTo>
                    <a:pt x="1219200" y="2574957"/>
                  </a:lnTo>
                  <a:cubicBezTo>
                    <a:pt x="1117600" y="2574957"/>
                    <a:pt x="127000" y="2651157"/>
                    <a:pt x="127000" y="2651157"/>
                  </a:cubicBezTo>
                  <a:lnTo>
                    <a:pt x="0" y="2549557"/>
                  </a:lnTo>
                  <a:lnTo>
                    <a:pt x="0" y="0"/>
                  </a:lnTo>
                  <a:lnTo>
                    <a:pt x="6693366" y="0"/>
                  </a:lnTo>
                  <a:lnTo>
                    <a:pt x="6693366" y="2549557"/>
                  </a:lnTo>
                  <a:lnTo>
                    <a:pt x="12700" y="2549557"/>
                  </a:lnTo>
                  <a:lnTo>
                    <a:pt x="12700" y="2536857"/>
                  </a:lnTo>
                  <a:lnTo>
                    <a:pt x="6680666" y="2536857"/>
                  </a:lnTo>
                  <a:lnTo>
                    <a:pt x="6680666" y="12700"/>
                  </a:lnTo>
                  <a:lnTo>
                    <a:pt x="12700" y="12700"/>
                  </a:lnTo>
                  <a:lnTo>
                    <a:pt x="12700" y="2549557"/>
                  </a:lnTo>
                </a:path>
              </a:pathLst>
            </a:custGeom>
            <a:solidFill>
              <a:srgbClr val="394C60">
                <a:alpha val="784"/>
              </a:srgbClr>
            </a:solidFill>
          </p:spPr>
        </p:sp>
        <p:sp>
          <p:nvSpPr>
            <p:cNvPr name="TextBox 29" id="29"/>
            <p:cNvSpPr txBox="true"/>
            <p:nvPr/>
          </p:nvSpPr>
          <p:spPr>
            <a:xfrm>
              <a:off x="0" y="-38100"/>
              <a:ext cx="6693366" cy="25876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FCFS Scheduler</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Sắp xếp theo Arrvial</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Tính: Waiting Time, Turnaround Time, Response Time</a:t>
              </a:r>
            </a:p>
          </p:txBody>
        </p:sp>
      </p:grpSp>
      <p:grpSp>
        <p:nvGrpSpPr>
          <p:cNvPr name="Group 30" id="30"/>
          <p:cNvGrpSpPr/>
          <p:nvPr/>
        </p:nvGrpSpPr>
        <p:grpSpPr>
          <a:xfrm rot="0">
            <a:off x="12578480" y="4674050"/>
            <a:ext cx="4972361" cy="1988368"/>
            <a:chOff x="0" y="0"/>
            <a:chExt cx="6629814" cy="2651157"/>
          </a:xfrm>
        </p:grpSpPr>
        <p:sp>
          <p:nvSpPr>
            <p:cNvPr name="Freeform 31" id="31"/>
            <p:cNvSpPr/>
            <p:nvPr/>
          </p:nvSpPr>
          <p:spPr>
            <a:xfrm flipH="false" flipV="false" rot="0">
              <a:off x="0" y="0"/>
              <a:ext cx="6629814" cy="2549557"/>
            </a:xfrm>
            <a:custGeom>
              <a:avLst/>
              <a:gdLst/>
              <a:ahLst/>
              <a:cxnLst/>
              <a:rect r="r" b="b" t="t" l="l"/>
              <a:pathLst>
                <a:path h="2549557" w="6629814">
                  <a:moveTo>
                    <a:pt x="0" y="0"/>
                  </a:moveTo>
                  <a:lnTo>
                    <a:pt x="6629814" y="0"/>
                  </a:lnTo>
                  <a:lnTo>
                    <a:pt x="6629814" y="2549557"/>
                  </a:lnTo>
                  <a:lnTo>
                    <a:pt x="0" y="2549557"/>
                  </a:lnTo>
                  <a:close/>
                </a:path>
              </a:pathLst>
            </a:custGeom>
            <a:solidFill>
              <a:srgbClr val="FEFEFE"/>
            </a:solidFill>
          </p:spPr>
        </p:sp>
        <p:sp>
          <p:nvSpPr>
            <p:cNvPr name="Freeform 32" id="32"/>
            <p:cNvSpPr/>
            <p:nvPr/>
          </p:nvSpPr>
          <p:spPr>
            <a:xfrm flipH="false" flipV="false" rot="0">
              <a:off x="0" y="0"/>
              <a:ext cx="6629814" cy="2651157"/>
            </a:xfrm>
            <a:custGeom>
              <a:avLst/>
              <a:gdLst/>
              <a:ahLst/>
              <a:cxnLst/>
              <a:rect r="r" b="b" t="t" l="l"/>
              <a:pathLst>
                <a:path h="2651157" w="6629814">
                  <a:moveTo>
                    <a:pt x="0" y="2549557"/>
                  </a:moveTo>
                  <a:lnTo>
                    <a:pt x="6629814" y="2549557"/>
                  </a:lnTo>
                  <a:lnTo>
                    <a:pt x="6502814" y="2651157"/>
                  </a:lnTo>
                  <a:cubicBezTo>
                    <a:pt x="6502814" y="2651157"/>
                    <a:pt x="5512214" y="2574957"/>
                    <a:pt x="5410614" y="2574957"/>
                  </a:cubicBezTo>
                  <a:lnTo>
                    <a:pt x="1219200" y="2574957"/>
                  </a:lnTo>
                  <a:cubicBezTo>
                    <a:pt x="1117600" y="2574957"/>
                    <a:pt x="127000" y="2651157"/>
                    <a:pt x="127000" y="2651157"/>
                  </a:cubicBezTo>
                  <a:lnTo>
                    <a:pt x="0" y="2549557"/>
                  </a:lnTo>
                  <a:lnTo>
                    <a:pt x="0" y="0"/>
                  </a:lnTo>
                  <a:lnTo>
                    <a:pt x="6629814" y="0"/>
                  </a:lnTo>
                  <a:lnTo>
                    <a:pt x="6629814" y="2549557"/>
                  </a:lnTo>
                  <a:lnTo>
                    <a:pt x="12700" y="2549557"/>
                  </a:lnTo>
                  <a:lnTo>
                    <a:pt x="12700" y="2536857"/>
                  </a:lnTo>
                  <a:lnTo>
                    <a:pt x="6617114" y="2536857"/>
                  </a:lnTo>
                  <a:lnTo>
                    <a:pt x="6617114" y="12700"/>
                  </a:lnTo>
                  <a:lnTo>
                    <a:pt x="12700" y="12700"/>
                  </a:lnTo>
                  <a:lnTo>
                    <a:pt x="12700" y="2549557"/>
                  </a:lnTo>
                </a:path>
              </a:pathLst>
            </a:custGeom>
            <a:solidFill>
              <a:srgbClr val="394C60">
                <a:alpha val="784"/>
              </a:srgbClr>
            </a:solidFill>
          </p:spPr>
        </p:sp>
        <p:sp>
          <p:nvSpPr>
            <p:cNvPr name="TextBox 33" id="33"/>
            <p:cNvSpPr txBox="true"/>
            <p:nvPr/>
          </p:nvSpPr>
          <p:spPr>
            <a:xfrm>
              <a:off x="0" y="-38100"/>
              <a:ext cx="6629814" cy="25876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Gantt Chart</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Hiển thị thứ tự thực thi tiến trình</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Trực quan, dễ phân tích</a:t>
              </a:r>
            </a:p>
          </p:txBody>
        </p:sp>
      </p:grpSp>
      <p:grpSp>
        <p:nvGrpSpPr>
          <p:cNvPr name="Group 34" id="34"/>
          <p:cNvGrpSpPr/>
          <p:nvPr/>
        </p:nvGrpSpPr>
        <p:grpSpPr>
          <a:xfrm rot="0">
            <a:off x="6772624" y="6186694"/>
            <a:ext cx="5020024" cy="1988368"/>
            <a:chOff x="0" y="0"/>
            <a:chExt cx="6693366" cy="2651157"/>
          </a:xfrm>
        </p:grpSpPr>
        <p:sp>
          <p:nvSpPr>
            <p:cNvPr name="Freeform 35" id="35"/>
            <p:cNvSpPr/>
            <p:nvPr/>
          </p:nvSpPr>
          <p:spPr>
            <a:xfrm flipH="false" flipV="false" rot="0">
              <a:off x="0" y="0"/>
              <a:ext cx="6693366" cy="2549557"/>
            </a:xfrm>
            <a:custGeom>
              <a:avLst/>
              <a:gdLst/>
              <a:ahLst/>
              <a:cxnLst/>
              <a:rect r="r" b="b" t="t" l="l"/>
              <a:pathLst>
                <a:path h="2549557" w="6693366">
                  <a:moveTo>
                    <a:pt x="0" y="0"/>
                  </a:moveTo>
                  <a:lnTo>
                    <a:pt x="6693366" y="0"/>
                  </a:lnTo>
                  <a:lnTo>
                    <a:pt x="6693366" y="2549557"/>
                  </a:lnTo>
                  <a:lnTo>
                    <a:pt x="0" y="2549557"/>
                  </a:lnTo>
                  <a:close/>
                </a:path>
              </a:pathLst>
            </a:custGeom>
            <a:solidFill>
              <a:srgbClr val="FEFEFE"/>
            </a:solidFill>
          </p:spPr>
        </p:sp>
        <p:sp>
          <p:nvSpPr>
            <p:cNvPr name="Freeform 36" id="36"/>
            <p:cNvSpPr/>
            <p:nvPr/>
          </p:nvSpPr>
          <p:spPr>
            <a:xfrm flipH="false" flipV="false" rot="0">
              <a:off x="0" y="0"/>
              <a:ext cx="6693366" cy="2651157"/>
            </a:xfrm>
            <a:custGeom>
              <a:avLst/>
              <a:gdLst/>
              <a:ahLst/>
              <a:cxnLst/>
              <a:rect r="r" b="b" t="t" l="l"/>
              <a:pathLst>
                <a:path h="2651157" w="6693366">
                  <a:moveTo>
                    <a:pt x="0" y="2549557"/>
                  </a:moveTo>
                  <a:lnTo>
                    <a:pt x="6693366" y="2549557"/>
                  </a:lnTo>
                  <a:lnTo>
                    <a:pt x="6566366" y="2651157"/>
                  </a:lnTo>
                  <a:cubicBezTo>
                    <a:pt x="6566366" y="2651157"/>
                    <a:pt x="5575765" y="2574957"/>
                    <a:pt x="5474165" y="2574957"/>
                  </a:cubicBezTo>
                  <a:lnTo>
                    <a:pt x="1219200" y="2574957"/>
                  </a:lnTo>
                  <a:cubicBezTo>
                    <a:pt x="1117600" y="2574957"/>
                    <a:pt x="127000" y="2651157"/>
                    <a:pt x="127000" y="2651157"/>
                  </a:cubicBezTo>
                  <a:lnTo>
                    <a:pt x="0" y="2549557"/>
                  </a:lnTo>
                  <a:lnTo>
                    <a:pt x="0" y="0"/>
                  </a:lnTo>
                  <a:lnTo>
                    <a:pt x="6693366" y="0"/>
                  </a:lnTo>
                  <a:lnTo>
                    <a:pt x="6693366" y="2549557"/>
                  </a:lnTo>
                  <a:lnTo>
                    <a:pt x="12700" y="2549557"/>
                  </a:lnTo>
                  <a:lnTo>
                    <a:pt x="12700" y="2536857"/>
                  </a:lnTo>
                  <a:lnTo>
                    <a:pt x="6680666" y="2536857"/>
                  </a:lnTo>
                  <a:lnTo>
                    <a:pt x="6680666" y="12700"/>
                  </a:lnTo>
                  <a:lnTo>
                    <a:pt x="12700" y="12700"/>
                  </a:lnTo>
                  <a:lnTo>
                    <a:pt x="12700" y="2549557"/>
                  </a:lnTo>
                </a:path>
              </a:pathLst>
            </a:custGeom>
            <a:solidFill>
              <a:srgbClr val="394C60">
                <a:alpha val="784"/>
              </a:srgbClr>
            </a:solidFill>
          </p:spPr>
        </p:sp>
        <p:sp>
          <p:nvSpPr>
            <p:cNvPr name="TextBox 37" id="37"/>
            <p:cNvSpPr txBox="true"/>
            <p:nvPr/>
          </p:nvSpPr>
          <p:spPr>
            <a:xfrm>
              <a:off x="0" y="-38100"/>
              <a:ext cx="6693366" cy="25876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SJF Scheduler</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Chọn tiến trình có Brust Time nhỏ nhất trong hàng đợi</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Tối ưu thời gian chờ trung bình</a:t>
              </a:r>
            </a:p>
          </p:txBody>
        </p:sp>
      </p:grpSp>
      <p:grpSp>
        <p:nvGrpSpPr>
          <p:cNvPr name="Group 38" id="38"/>
          <p:cNvGrpSpPr/>
          <p:nvPr/>
        </p:nvGrpSpPr>
        <p:grpSpPr>
          <a:xfrm rot="0">
            <a:off x="12578480" y="6776718"/>
            <a:ext cx="4972361" cy="1597843"/>
            <a:chOff x="0" y="0"/>
            <a:chExt cx="6629814" cy="2130457"/>
          </a:xfrm>
        </p:grpSpPr>
        <p:sp>
          <p:nvSpPr>
            <p:cNvPr name="Freeform 39" id="39"/>
            <p:cNvSpPr/>
            <p:nvPr/>
          </p:nvSpPr>
          <p:spPr>
            <a:xfrm flipH="false" flipV="false" rot="0">
              <a:off x="0" y="0"/>
              <a:ext cx="6629814" cy="2028857"/>
            </a:xfrm>
            <a:custGeom>
              <a:avLst/>
              <a:gdLst/>
              <a:ahLst/>
              <a:cxnLst/>
              <a:rect r="r" b="b" t="t" l="l"/>
              <a:pathLst>
                <a:path h="2028857" w="6629814">
                  <a:moveTo>
                    <a:pt x="0" y="0"/>
                  </a:moveTo>
                  <a:lnTo>
                    <a:pt x="6629814" y="0"/>
                  </a:lnTo>
                  <a:lnTo>
                    <a:pt x="6629814" y="2028857"/>
                  </a:lnTo>
                  <a:lnTo>
                    <a:pt x="0" y="2028857"/>
                  </a:lnTo>
                  <a:close/>
                </a:path>
              </a:pathLst>
            </a:custGeom>
            <a:solidFill>
              <a:srgbClr val="FEFEFE"/>
            </a:solidFill>
          </p:spPr>
        </p:sp>
        <p:sp>
          <p:nvSpPr>
            <p:cNvPr name="Freeform 40" id="40"/>
            <p:cNvSpPr/>
            <p:nvPr/>
          </p:nvSpPr>
          <p:spPr>
            <a:xfrm flipH="false" flipV="false" rot="0">
              <a:off x="0" y="0"/>
              <a:ext cx="6629814" cy="2130457"/>
            </a:xfrm>
            <a:custGeom>
              <a:avLst/>
              <a:gdLst/>
              <a:ahLst/>
              <a:cxnLst/>
              <a:rect r="r" b="b" t="t" l="l"/>
              <a:pathLst>
                <a:path h="2130457" w="6629814">
                  <a:moveTo>
                    <a:pt x="0" y="2028857"/>
                  </a:moveTo>
                  <a:lnTo>
                    <a:pt x="6629814" y="2028857"/>
                  </a:lnTo>
                  <a:lnTo>
                    <a:pt x="6502814" y="2130457"/>
                  </a:lnTo>
                  <a:cubicBezTo>
                    <a:pt x="6502814" y="2130457"/>
                    <a:pt x="5512214" y="2054257"/>
                    <a:pt x="5410614" y="2054257"/>
                  </a:cubicBezTo>
                  <a:lnTo>
                    <a:pt x="1219200" y="2054257"/>
                  </a:lnTo>
                  <a:cubicBezTo>
                    <a:pt x="1117600" y="2054257"/>
                    <a:pt x="127000" y="2130457"/>
                    <a:pt x="127000" y="2130457"/>
                  </a:cubicBezTo>
                  <a:lnTo>
                    <a:pt x="0" y="2028857"/>
                  </a:lnTo>
                  <a:lnTo>
                    <a:pt x="0" y="0"/>
                  </a:lnTo>
                  <a:lnTo>
                    <a:pt x="6629814" y="0"/>
                  </a:lnTo>
                  <a:lnTo>
                    <a:pt x="6629814" y="2028857"/>
                  </a:lnTo>
                  <a:lnTo>
                    <a:pt x="12700" y="2028857"/>
                  </a:lnTo>
                  <a:lnTo>
                    <a:pt x="12700" y="2016157"/>
                  </a:lnTo>
                  <a:lnTo>
                    <a:pt x="6617114" y="2016157"/>
                  </a:lnTo>
                  <a:lnTo>
                    <a:pt x="6617114" y="12700"/>
                  </a:lnTo>
                  <a:lnTo>
                    <a:pt x="12700" y="12700"/>
                  </a:lnTo>
                  <a:lnTo>
                    <a:pt x="12700" y="2028857"/>
                  </a:lnTo>
                </a:path>
              </a:pathLst>
            </a:custGeom>
            <a:solidFill>
              <a:srgbClr val="394C60">
                <a:alpha val="784"/>
              </a:srgbClr>
            </a:solidFill>
          </p:spPr>
        </p:sp>
        <p:sp>
          <p:nvSpPr>
            <p:cNvPr name="TextBox 41" id="41"/>
            <p:cNvSpPr txBox="true"/>
            <p:nvPr/>
          </p:nvSpPr>
          <p:spPr>
            <a:xfrm>
              <a:off x="0" y="-38100"/>
              <a:ext cx="6629814" cy="20669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CSV Exporter</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Xuất kết quả ra file output.csv</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Lưu trữ trong thư mục output</a:t>
              </a:r>
            </a:p>
          </p:txBody>
        </p:sp>
      </p:grpSp>
      <p:sp>
        <p:nvSpPr>
          <p:cNvPr name="Freeform 42" id="42"/>
          <p:cNvSpPr/>
          <p:nvPr/>
        </p:nvSpPr>
        <p:spPr>
          <a:xfrm flipH="false" flipV="false" rot="0">
            <a:off x="2011936" y="3028567"/>
            <a:ext cx="3077086" cy="1215250"/>
          </a:xfrm>
          <a:custGeom>
            <a:avLst/>
            <a:gdLst/>
            <a:ahLst/>
            <a:cxnLst/>
            <a:rect r="r" b="b" t="t" l="l"/>
            <a:pathLst>
              <a:path h="1215250" w="3077086">
                <a:moveTo>
                  <a:pt x="0" y="0"/>
                </a:moveTo>
                <a:lnTo>
                  <a:pt x="3077086" y="0"/>
                </a:lnTo>
                <a:lnTo>
                  <a:pt x="3077086" y="1215250"/>
                </a:lnTo>
                <a:lnTo>
                  <a:pt x="0" y="1215250"/>
                </a:lnTo>
                <a:lnTo>
                  <a:pt x="0" y="0"/>
                </a:lnTo>
                <a:close/>
              </a:path>
            </a:pathLst>
          </a:custGeom>
          <a:blipFill>
            <a:blip r:embed="rId3"/>
            <a:stretch>
              <a:fillRect l="-65622" t="0" r="-541497" b="-228795"/>
            </a:stretch>
          </a:blipFill>
        </p:spPr>
      </p:sp>
      <p:sp>
        <p:nvSpPr>
          <p:cNvPr name="Freeform 43" id="43"/>
          <p:cNvSpPr/>
          <p:nvPr/>
        </p:nvSpPr>
        <p:spPr>
          <a:xfrm flipH="false" flipV="false" rot="0">
            <a:off x="7723716" y="2714046"/>
            <a:ext cx="3348547" cy="1080105"/>
          </a:xfrm>
          <a:custGeom>
            <a:avLst/>
            <a:gdLst/>
            <a:ahLst/>
            <a:cxnLst/>
            <a:rect r="r" b="b" t="t" l="l"/>
            <a:pathLst>
              <a:path h="1080105" w="3348547">
                <a:moveTo>
                  <a:pt x="0" y="0"/>
                </a:moveTo>
                <a:lnTo>
                  <a:pt x="3348548" y="0"/>
                </a:lnTo>
                <a:lnTo>
                  <a:pt x="3348548" y="1080105"/>
                </a:lnTo>
                <a:lnTo>
                  <a:pt x="0" y="1080105"/>
                </a:lnTo>
                <a:lnTo>
                  <a:pt x="0" y="0"/>
                </a:lnTo>
                <a:close/>
              </a:path>
            </a:pathLst>
          </a:custGeom>
          <a:blipFill>
            <a:blip r:embed="rId3"/>
            <a:stretch>
              <a:fillRect l="-57037" t="0" r="-44173" b="-14551"/>
            </a:stretch>
          </a:blipFill>
        </p:spPr>
      </p:sp>
      <p:sp>
        <p:nvSpPr>
          <p:cNvPr name="Freeform 44" id="44"/>
          <p:cNvSpPr/>
          <p:nvPr/>
        </p:nvSpPr>
        <p:spPr>
          <a:xfrm flipH="false" flipV="false" rot="0">
            <a:off x="12794920" y="3163712"/>
            <a:ext cx="4446581" cy="1253177"/>
          </a:xfrm>
          <a:custGeom>
            <a:avLst/>
            <a:gdLst/>
            <a:ahLst/>
            <a:cxnLst/>
            <a:rect r="r" b="b" t="t" l="l"/>
            <a:pathLst>
              <a:path h="1253177" w="4446581">
                <a:moveTo>
                  <a:pt x="0" y="0"/>
                </a:moveTo>
                <a:lnTo>
                  <a:pt x="4446581" y="0"/>
                </a:lnTo>
                <a:lnTo>
                  <a:pt x="4446581" y="1253177"/>
                </a:lnTo>
                <a:lnTo>
                  <a:pt x="0" y="1253177"/>
                </a:lnTo>
                <a:lnTo>
                  <a:pt x="0" y="0"/>
                </a:lnTo>
                <a:close/>
              </a:path>
            </a:pathLst>
          </a:custGeom>
          <a:blipFill>
            <a:blip r:embed="rId3"/>
            <a:stretch>
              <a:fillRect l="-20017" t="0" r="-33453" b="0"/>
            </a:stretch>
          </a:blipFill>
        </p:spPr>
      </p:sp>
      <p:grpSp>
        <p:nvGrpSpPr>
          <p:cNvPr name="Group 45" id="45"/>
          <p:cNvGrpSpPr/>
          <p:nvPr/>
        </p:nvGrpSpPr>
        <p:grpSpPr>
          <a:xfrm rot="0">
            <a:off x="6772624" y="8175062"/>
            <a:ext cx="5043856" cy="2378893"/>
            <a:chOff x="0" y="0"/>
            <a:chExt cx="6725141" cy="3171857"/>
          </a:xfrm>
        </p:grpSpPr>
        <p:sp>
          <p:nvSpPr>
            <p:cNvPr name="Freeform 46" id="46"/>
            <p:cNvSpPr/>
            <p:nvPr/>
          </p:nvSpPr>
          <p:spPr>
            <a:xfrm flipH="false" flipV="false" rot="0">
              <a:off x="0" y="0"/>
              <a:ext cx="6725141" cy="3070257"/>
            </a:xfrm>
            <a:custGeom>
              <a:avLst/>
              <a:gdLst/>
              <a:ahLst/>
              <a:cxnLst/>
              <a:rect r="r" b="b" t="t" l="l"/>
              <a:pathLst>
                <a:path h="3070257" w="6725141">
                  <a:moveTo>
                    <a:pt x="0" y="0"/>
                  </a:moveTo>
                  <a:lnTo>
                    <a:pt x="6725141" y="0"/>
                  </a:lnTo>
                  <a:lnTo>
                    <a:pt x="6725141" y="3070257"/>
                  </a:lnTo>
                  <a:lnTo>
                    <a:pt x="0" y="3070257"/>
                  </a:lnTo>
                  <a:close/>
                </a:path>
              </a:pathLst>
            </a:custGeom>
            <a:solidFill>
              <a:srgbClr val="FEFEFE"/>
            </a:solidFill>
          </p:spPr>
        </p:sp>
        <p:sp>
          <p:nvSpPr>
            <p:cNvPr name="Freeform 47" id="47"/>
            <p:cNvSpPr/>
            <p:nvPr/>
          </p:nvSpPr>
          <p:spPr>
            <a:xfrm flipH="false" flipV="false" rot="0">
              <a:off x="0" y="0"/>
              <a:ext cx="6725141" cy="3171857"/>
            </a:xfrm>
            <a:custGeom>
              <a:avLst/>
              <a:gdLst/>
              <a:ahLst/>
              <a:cxnLst/>
              <a:rect r="r" b="b" t="t" l="l"/>
              <a:pathLst>
                <a:path h="3171857" w="6725141">
                  <a:moveTo>
                    <a:pt x="0" y="3070257"/>
                  </a:moveTo>
                  <a:lnTo>
                    <a:pt x="6725141" y="3070257"/>
                  </a:lnTo>
                  <a:lnTo>
                    <a:pt x="6598141" y="3171857"/>
                  </a:lnTo>
                  <a:cubicBezTo>
                    <a:pt x="6598141" y="3171857"/>
                    <a:pt x="5607541" y="3095657"/>
                    <a:pt x="5505941" y="3095657"/>
                  </a:cubicBezTo>
                  <a:lnTo>
                    <a:pt x="1219200" y="3095657"/>
                  </a:lnTo>
                  <a:cubicBezTo>
                    <a:pt x="1117600" y="3095657"/>
                    <a:pt x="127000" y="3171857"/>
                    <a:pt x="127000" y="3171857"/>
                  </a:cubicBezTo>
                  <a:lnTo>
                    <a:pt x="0" y="3070257"/>
                  </a:lnTo>
                  <a:lnTo>
                    <a:pt x="0" y="0"/>
                  </a:lnTo>
                  <a:lnTo>
                    <a:pt x="6725141" y="0"/>
                  </a:lnTo>
                  <a:lnTo>
                    <a:pt x="6725141" y="3070257"/>
                  </a:lnTo>
                  <a:lnTo>
                    <a:pt x="12700" y="3070257"/>
                  </a:lnTo>
                  <a:lnTo>
                    <a:pt x="12700" y="3057557"/>
                  </a:lnTo>
                  <a:lnTo>
                    <a:pt x="6712441" y="3057557"/>
                  </a:lnTo>
                  <a:lnTo>
                    <a:pt x="6712441" y="12700"/>
                  </a:lnTo>
                  <a:lnTo>
                    <a:pt x="12700" y="12700"/>
                  </a:lnTo>
                  <a:lnTo>
                    <a:pt x="12700" y="3070257"/>
                  </a:lnTo>
                </a:path>
              </a:pathLst>
            </a:custGeom>
            <a:solidFill>
              <a:srgbClr val="394C60">
                <a:alpha val="784"/>
              </a:srgbClr>
            </a:solidFill>
          </p:spPr>
        </p:sp>
        <p:sp>
          <p:nvSpPr>
            <p:cNvPr name="TextBox 48" id="48"/>
            <p:cNvSpPr txBox="true"/>
            <p:nvPr/>
          </p:nvSpPr>
          <p:spPr>
            <a:xfrm>
              <a:off x="0" y="-38100"/>
              <a:ext cx="6725141" cy="31083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Results Calculator</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Tính các chỉ số: Average Waiting Time, Average Turnaround Time, CPU Utilization, Throughput</a:t>
              </a:r>
            </a:p>
          </p:txBody>
        </p:sp>
      </p:grpSp>
      <p:grpSp>
        <p:nvGrpSpPr>
          <p:cNvPr name="Group 49" id="49"/>
          <p:cNvGrpSpPr/>
          <p:nvPr/>
        </p:nvGrpSpPr>
        <p:grpSpPr>
          <a:xfrm rot="0">
            <a:off x="12578480" y="8565587"/>
            <a:ext cx="4972361" cy="1597843"/>
            <a:chOff x="0" y="0"/>
            <a:chExt cx="6629814" cy="2130457"/>
          </a:xfrm>
        </p:grpSpPr>
        <p:sp>
          <p:nvSpPr>
            <p:cNvPr name="Freeform 50" id="50"/>
            <p:cNvSpPr/>
            <p:nvPr/>
          </p:nvSpPr>
          <p:spPr>
            <a:xfrm flipH="false" flipV="false" rot="0">
              <a:off x="0" y="0"/>
              <a:ext cx="6629814" cy="2028857"/>
            </a:xfrm>
            <a:custGeom>
              <a:avLst/>
              <a:gdLst/>
              <a:ahLst/>
              <a:cxnLst/>
              <a:rect r="r" b="b" t="t" l="l"/>
              <a:pathLst>
                <a:path h="2028857" w="6629814">
                  <a:moveTo>
                    <a:pt x="0" y="0"/>
                  </a:moveTo>
                  <a:lnTo>
                    <a:pt x="6629814" y="0"/>
                  </a:lnTo>
                  <a:lnTo>
                    <a:pt x="6629814" y="2028857"/>
                  </a:lnTo>
                  <a:lnTo>
                    <a:pt x="0" y="2028857"/>
                  </a:lnTo>
                  <a:close/>
                </a:path>
              </a:pathLst>
            </a:custGeom>
            <a:solidFill>
              <a:srgbClr val="FEFEFE"/>
            </a:solidFill>
          </p:spPr>
        </p:sp>
        <p:sp>
          <p:nvSpPr>
            <p:cNvPr name="Freeform 51" id="51"/>
            <p:cNvSpPr/>
            <p:nvPr/>
          </p:nvSpPr>
          <p:spPr>
            <a:xfrm flipH="false" flipV="false" rot="0">
              <a:off x="0" y="0"/>
              <a:ext cx="6629814" cy="2130457"/>
            </a:xfrm>
            <a:custGeom>
              <a:avLst/>
              <a:gdLst/>
              <a:ahLst/>
              <a:cxnLst/>
              <a:rect r="r" b="b" t="t" l="l"/>
              <a:pathLst>
                <a:path h="2130457" w="6629814">
                  <a:moveTo>
                    <a:pt x="0" y="2028857"/>
                  </a:moveTo>
                  <a:lnTo>
                    <a:pt x="6629814" y="2028857"/>
                  </a:lnTo>
                  <a:lnTo>
                    <a:pt x="6502814" y="2130457"/>
                  </a:lnTo>
                  <a:cubicBezTo>
                    <a:pt x="6502814" y="2130457"/>
                    <a:pt x="5512214" y="2054257"/>
                    <a:pt x="5410614" y="2054257"/>
                  </a:cubicBezTo>
                  <a:lnTo>
                    <a:pt x="1219200" y="2054257"/>
                  </a:lnTo>
                  <a:cubicBezTo>
                    <a:pt x="1117600" y="2054257"/>
                    <a:pt x="127000" y="2130457"/>
                    <a:pt x="127000" y="2130457"/>
                  </a:cubicBezTo>
                  <a:lnTo>
                    <a:pt x="0" y="2028857"/>
                  </a:lnTo>
                  <a:lnTo>
                    <a:pt x="0" y="0"/>
                  </a:lnTo>
                  <a:lnTo>
                    <a:pt x="6629814" y="0"/>
                  </a:lnTo>
                  <a:lnTo>
                    <a:pt x="6629814" y="2028857"/>
                  </a:lnTo>
                  <a:lnTo>
                    <a:pt x="12700" y="2028857"/>
                  </a:lnTo>
                  <a:lnTo>
                    <a:pt x="12700" y="2016157"/>
                  </a:lnTo>
                  <a:lnTo>
                    <a:pt x="6617114" y="2016157"/>
                  </a:lnTo>
                  <a:lnTo>
                    <a:pt x="6617114" y="12700"/>
                  </a:lnTo>
                  <a:lnTo>
                    <a:pt x="12700" y="12700"/>
                  </a:lnTo>
                  <a:lnTo>
                    <a:pt x="12700" y="2028857"/>
                  </a:lnTo>
                </a:path>
              </a:pathLst>
            </a:custGeom>
            <a:solidFill>
              <a:srgbClr val="394C60">
                <a:alpha val="784"/>
              </a:srgbClr>
            </a:solidFill>
          </p:spPr>
        </p:sp>
        <p:sp>
          <p:nvSpPr>
            <p:cNvPr name="TextBox 52" id="52"/>
            <p:cNvSpPr txBox="true"/>
            <p:nvPr/>
          </p:nvSpPr>
          <p:spPr>
            <a:xfrm>
              <a:off x="0" y="-38100"/>
              <a:ext cx="6629814" cy="2066957"/>
            </a:xfrm>
            <a:prstGeom prst="rect">
              <a:avLst/>
            </a:prstGeom>
          </p:spPr>
          <p:txBody>
            <a:bodyPr anchor="t" rtlCol="false" tIns="203200" lIns="203200" bIns="203200" rIns="203200"/>
            <a:lstStyle/>
            <a:p>
              <a:pPr algn="ctr">
                <a:lnSpc>
                  <a:spcPts val="3083"/>
                </a:lnSpc>
              </a:pPr>
              <a:r>
                <a:rPr lang="en-US" sz="2202" b="true">
                  <a:solidFill>
                    <a:srgbClr val="000000"/>
                  </a:solidFill>
                  <a:latin typeface="Canva Sans Bold"/>
                  <a:ea typeface="Canva Sans Bold"/>
                  <a:cs typeface="Canva Sans Bold"/>
                  <a:sym typeface="Canva Sans Bold"/>
                </a:rPr>
                <a:t>User Interface</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Hiển thị kết quả trên màn hình</a:t>
              </a:r>
            </a:p>
            <a:p>
              <a:pPr algn="l" marL="475572" indent="-237786" lvl="1">
                <a:lnSpc>
                  <a:spcPts val="3083"/>
                </a:lnSpc>
                <a:buFont typeface="Arial"/>
                <a:buChar char="•"/>
              </a:pPr>
              <a:r>
                <a:rPr lang="en-US" sz="2202">
                  <a:solidFill>
                    <a:srgbClr val="000000"/>
                  </a:solidFill>
                  <a:latin typeface="Canva Sans"/>
                  <a:ea typeface="Canva Sans"/>
                  <a:cs typeface="Canva Sans"/>
                  <a:sym typeface="Canva Sans"/>
                </a:rPr>
                <a:t>Kết hợp bảng + biểu đồ</a:t>
              </a:r>
            </a:p>
          </p:txBody>
        </p:sp>
      </p:grpSp>
      <p:pic>
        <p:nvPicPr>
          <p:cNvPr name="Picture 53" id="53"/>
          <p:cNvPicPr>
            <a:picLocks noChangeAspect="true"/>
          </p:cNvPicPr>
          <p:nvPr/>
        </p:nvPicPr>
        <p:blipFill>
          <a:blip r:embed="rId4"/>
          <a:stretch>
            <a:fillRect/>
          </a:stretch>
        </p:blipFill>
        <p:spPr>
          <a:xfrm rot="0">
            <a:off x="5821010" y="3163791"/>
            <a:ext cx="1170718" cy="727995"/>
          </a:xfrm>
          <a:prstGeom prst="rect">
            <a:avLst/>
          </a:prstGeom>
        </p:spPr>
      </p:pic>
      <p:sp>
        <p:nvSpPr>
          <p:cNvPr name="TextBox 54" id="54"/>
          <p:cNvSpPr txBox="true"/>
          <p:nvPr/>
        </p:nvSpPr>
        <p:spPr>
          <a:xfrm rot="0">
            <a:off x="5898522" y="1318115"/>
            <a:ext cx="6998936" cy="738197"/>
          </a:xfrm>
          <a:prstGeom prst="rect">
            <a:avLst/>
          </a:prstGeom>
        </p:spPr>
        <p:txBody>
          <a:bodyPr anchor="t" rtlCol="false" tIns="0" lIns="0" bIns="0" rIns="0">
            <a:spAutoFit/>
          </a:bodyPr>
          <a:lstStyle/>
          <a:p>
            <a:pPr algn="l" marL="0" indent="0" lvl="0">
              <a:lnSpc>
                <a:spcPts val="5606"/>
              </a:lnSpc>
              <a:spcBef>
                <a:spcPct val="0"/>
              </a:spcBef>
            </a:pPr>
            <a:r>
              <a:rPr lang="en-US" b="true" sz="5391">
                <a:solidFill>
                  <a:srgbClr val="F0F7FE"/>
                </a:solidFill>
                <a:latin typeface="Faustina Bold"/>
                <a:ea typeface="Faustina Bold"/>
                <a:cs typeface="Faustina Bold"/>
                <a:sym typeface="Faustina Bold"/>
              </a:rPr>
              <a:t>K</a:t>
            </a:r>
            <a:r>
              <a:rPr lang="en-US" b="true" sz="5391" strike="noStrike" u="none">
                <a:solidFill>
                  <a:srgbClr val="F0F7FE"/>
                </a:solidFill>
                <a:latin typeface="Faustina Bold"/>
                <a:ea typeface="Faustina Bold"/>
                <a:cs typeface="Faustina Bold"/>
                <a:sym typeface="Faustina Bold"/>
              </a:rPr>
              <a:t>IẾN TRÚC HỆ THỐNG</a:t>
            </a:r>
          </a:p>
        </p:txBody>
      </p:sp>
      <p:pic>
        <p:nvPicPr>
          <p:cNvPr name="Picture 55" id="55"/>
          <p:cNvPicPr>
            <a:picLocks noChangeAspect="true"/>
          </p:cNvPicPr>
          <p:nvPr/>
        </p:nvPicPr>
        <p:blipFill>
          <a:blip r:embed="rId5"/>
          <a:stretch>
            <a:fillRect/>
          </a:stretch>
        </p:blipFill>
        <p:spPr>
          <a:xfrm rot="0">
            <a:off x="11702757" y="3432001"/>
            <a:ext cx="1078694" cy="670771"/>
          </a:xfrm>
          <a:prstGeom prst="rect">
            <a:avLst/>
          </a:prstGeom>
        </p:spPr>
      </p:pic>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sp>
        <p:nvSpPr>
          <p:cNvPr name="TextBox 6" id="6"/>
          <p:cNvSpPr txBox="true"/>
          <p:nvPr/>
        </p:nvSpPr>
        <p:spPr>
          <a:xfrm rot="0">
            <a:off x="2857918" y="1123950"/>
            <a:ext cx="12955027" cy="1669471"/>
          </a:xfrm>
          <a:prstGeom prst="rect">
            <a:avLst/>
          </a:prstGeom>
        </p:spPr>
        <p:txBody>
          <a:bodyPr anchor="t" rtlCol="false" tIns="0" lIns="0" bIns="0" rIns="0">
            <a:spAutoFit/>
          </a:bodyPr>
          <a:lstStyle/>
          <a:p>
            <a:pPr algn="l">
              <a:lnSpc>
                <a:spcPts val="6470"/>
              </a:lnSpc>
            </a:pPr>
            <a:r>
              <a:rPr lang="en-US" sz="6221" b="true">
                <a:solidFill>
                  <a:srgbClr val="F0F7FE"/>
                </a:solidFill>
                <a:latin typeface="Faustina Bold"/>
                <a:ea typeface="Faustina Bold"/>
                <a:cs typeface="Faustina Bold"/>
                <a:sym typeface="Faustina Bold"/>
              </a:rPr>
              <a:t>STRESS TEST &amp; PERFORMANCE TEST</a:t>
            </a:r>
          </a:p>
          <a:p>
            <a:pPr algn="l">
              <a:lnSpc>
                <a:spcPts val="6470"/>
              </a:lnSpc>
              <a:spcBef>
                <a:spcPct val="0"/>
              </a:spcBef>
            </a:pPr>
          </a:p>
        </p:txBody>
      </p:sp>
      <p:grpSp>
        <p:nvGrpSpPr>
          <p:cNvPr name="Group 7" id="7"/>
          <p:cNvGrpSpPr/>
          <p:nvPr/>
        </p:nvGrpSpPr>
        <p:grpSpPr>
          <a:xfrm rot="0">
            <a:off x="145438" y="2489305"/>
            <a:ext cx="17963339" cy="7648088"/>
            <a:chOff x="0" y="0"/>
            <a:chExt cx="29194276" cy="12429783"/>
          </a:xfrm>
        </p:grpSpPr>
        <p:sp>
          <p:nvSpPr>
            <p:cNvPr name="Freeform 8" id="8"/>
            <p:cNvSpPr/>
            <p:nvPr/>
          </p:nvSpPr>
          <p:spPr>
            <a:xfrm flipH="false" flipV="false" rot="0">
              <a:off x="0" y="0"/>
              <a:ext cx="29194277" cy="12328183"/>
            </a:xfrm>
            <a:custGeom>
              <a:avLst/>
              <a:gdLst/>
              <a:ahLst/>
              <a:cxnLst/>
              <a:rect r="r" b="b" t="t" l="l"/>
              <a:pathLst>
                <a:path h="12328183" w="29194277">
                  <a:moveTo>
                    <a:pt x="0" y="0"/>
                  </a:moveTo>
                  <a:lnTo>
                    <a:pt x="29194277" y="0"/>
                  </a:lnTo>
                  <a:lnTo>
                    <a:pt x="29194277" y="12328183"/>
                  </a:lnTo>
                  <a:lnTo>
                    <a:pt x="0" y="12328183"/>
                  </a:lnTo>
                  <a:close/>
                </a:path>
              </a:pathLst>
            </a:custGeom>
            <a:gradFill rotWithShape="true">
              <a:gsLst>
                <a:gs pos="0">
                  <a:srgbClr val="CDFFD8">
                    <a:alpha val="100000"/>
                  </a:srgbClr>
                </a:gs>
                <a:gs pos="100000">
                  <a:srgbClr val="94B9FF">
                    <a:alpha val="100000"/>
                  </a:srgbClr>
                </a:gs>
              </a:gsLst>
              <a:lin ang="0"/>
            </a:gradFill>
          </p:spPr>
        </p:sp>
        <p:sp>
          <p:nvSpPr>
            <p:cNvPr name="Freeform 9" id="9"/>
            <p:cNvSpPr/>
            <p:nvPr/>
          </p:nvSpPr>
          <p:spPr>
            <a:xfrm flipH="false" flipV="false" rot="0">
              <a:off x="0" y="0"/>
              <a:ext cx="29194277" cy="12429783"/>
            </a:xfrm>
            <a:custGeom>
              <a:avLst/>
              <a:gdLst/>
              <a:ahLst/>
              <a:cxnLst/>
              <a:rect r="r" b="b" t="t" l="l"/>
              <a:pathLst>
                <a:path h="12429783" w="29194277">
                  <a:moveTo>
                    <a:pt x="0" y="12328183"/>
                  </a:moveTo>
                  <a:lnTo>
                    <a:pt x="29194277" y="12328183"/>
                  </a:lnTo>
                  <a:lnTo>
                    <a:pt x="29067277" y="12429783"/>
                  </a:lnTo>
                  <a:cubicBezTo>
                    <a:pt x="29067277" y="12429783"/>
                    <a:pt x="28076677" y="12353583"/>
                    <a:pt x="27975077" y="12353583"/>
                  </a:cubicBezTo>
                  <a:lnTo>
                    <a:pt x="1219200" y="12353583"/>
                  </a:lnTo>
                  <a:cubicBezTo>
                    <a:pt x="1117600" y="12353583"/>
                    <a:pt x="127000" y="12429783"/>
                    <a:pt x="127000" y="12429783"/>
                  </a:cubicBezTo>
                  <a:lnTo>
                    <a:pt x="0" y="12328183"/>
                  </a:lnTo>
                  <a:lnTo>
                    <a:pt x="0" y="0"/>
                  </a:lnTo>
                  <a:lnTo>
                    <a:pt x="29194277" y="0"/>
                  </a:lnTo>
                  <a:lnTo>
                    <a:pt x="29194277" y="12328183"/>
                  </a:lnTo>
                  <a:lnTo>
                    <a:pt x="12700" y="12328183"/>
                  </a:lnTo>
                  <a:lnTo>
                    <a:pt x="12700" y="12315483"/>
                  </a:lnTo>
                  <a:lnTo>
                    <a:pt x="29181577" y="12315483"/>
                  </a:lnTo>
                  <a:lnTo>
                    <a:pt x="29181577" y="12700"/>
                  </a:lnTo>
                  <a:lnTo>
                    <a:pt x="12700" y="12700"/>
                  </a:lnTo>
                  <a:lnTo>
                    <a:pt x="12700" y="12328183"/>
                  </a:lnTo>
                </a:path>
              </a:pathLst>
            </a:custGeom>
            <a:solidFill>
              <a:srgbClr val="394C60">
                <a:alpha val="784"/>
              </a:srgbClr>
            </a:solidFill>
          </p:spPr>
        </p:sp>
        <p:sp>
          <p:nvSpPr>
            <p:cNvPr name="TextBox 10" id="10"/>
            <p:cNvSpPr txBox="true"/>
            <p:nvPr/>
          </p:nvSpPr>
          <p:spPr>
            <a:xfrm>
              <a:off x="0" y="-47625"/>
              <a:ext cx="29194276" cy="12375808"/>
            </a:xfrm>
            <a:prstGeom prst="rect">
              <a:avLst/>
            </a:prstGeom>
          </p:spPr>
          <p:txBody>
            <a:bodyPr anchor="t" rtlCol="false" tIns="166706" lIns="166706" bIns="166706" rIns="166706"/>
            <a:lstStyle/>
            <a:p>
              <a:pPr algn="l" marL="631524" indent="-315762" lvl="1">
                <a:lnSpc>
                  <a:spcPts val="4095"/>
                </a:lnSpc>
                <a:buAutoNum type="arabicPeriod" startAt="1"/>
              </a:pPr>
              <a:r>
                <a:rPr lang="en-US" b="true" sz="2925">
                  <a:solidFill>
                    <a:srgbClr val="000000"/>
                  </a:solidFill>
                  <a:latin typeface="Canva Sans Bold"/>
                  <a:ea typeface="Canva Sans Bold"/>
                  <a:cs typeface="Canva Sans Bold"/>
                  <a:sym typeface="Canva Sans Bold"/>
                </a:rPr>
                <a:t>Phương pháp</a:t>
              </a:r>
            </a:p>
            <a:p>
              <a:pPr algn="l">
                <a:lnSpc>
                  <a:spcPts val="3714"/>
                </a:lnSpc>
              </a:pPr>
              <a:r>
                <a:rPr lang="en-US" sz="2653">
                  <a:solidFill>
                    <a:srgbClr val="000000"/>
                  </a:solidFill>
                  <a:latin typeface="Canva Sans"/>
                  <a:ea typeface="Canva Sans"/>
                  <a:cs typeface="Canva Sans"/>
                  <a:sym typeface="Canva Sans"/>
                </a:rPr>
                <a:t>•Dữ liệu ngẫu nhiên bằng QRandomGenerator — Arrival ∈ [0,100), Burst ∈ [1,50).</a:t>
              </a:r>
            </a:p>
            <a:p>
              <a:pPr algn="l">
                <a:lnSpc>
                  <a:spcPts val="3714"/>
                </a:lnSpc>
              </a:pPr>
              <a:r>
                <a:rPr lang="en-US" sz="2653">
                  <a:solidFill>
                    <a:srgbClr val="000000"/>
                  </a:solidFill>
                  <a:latin typeface="Canva Sans"/>
                  <a:ea typeface="Canva Sans"/>
                  <a:cs typeface="Canva Sans"/>
                  <a:sym typeface="Canva Sans"/>
                </a:rPr>
                <a:t>•Đo thời gian bằng QElapsedTimer (nanosecond), đơn vị báo cáo: microsecond (µs).</a:t>
              </a:r>
            </a:p>
            <a:p>
              <a:pPr algn="l">
                <a:lnSpc>
                  <a:spcPts val="3714"/>
                </a:lnSpc>
              </a:pPr>
              <a:r>
                <a:rPr lang="en-US" sz="2653">
                  <a:solidFill>
                    <a:srgbClr val="000000"/>
                  </a:solidFill>
                  <a:latin typeface="Canva Sans"/>
                  <a:ea typeface="Canva Sans"/>
                  <a:cs typeface="Canva Sans"/>
                  <a:sym typeface="Canva Sans"/>
                </a:rPr>
                <a:t>•Kết quả tự xuất ra output/StressTest_timestamp.csv sau mỗi lần chạy.</a:t>
              </a:r>
            </a:p>
            <a:p>
              <a:pPr algn="l">
                <a:lnSpc>
                  <a:spcPts val="3714"/>
                </a:lnSpc>
              </a:pPr>
            </a:p>
            <a:p>
              <a:pPr algn="l" marL="632588" indent="-316294" lvl="1">
                <a:lnSpc>
                  <a:spcPts val="4102"/>
                </a:lnSpc>
                <a:buAutoNum type="arabicPeriod" startAt="1"/>
              </a:pPr>
              <a:r>
                <a:rPr lang="en-US" b="true" sz="2930">
                  <a:solidFill>
                    <a:srgbClr val="000000"/>
                  </a:solidFill>
                  <a:latin typeface="Canva Sans Bold"/>
                  <a:ea typeface="Canva Sans Bold"/>
                  <a:cs typeface="Canva Sans Bold"/>
                  <a:sym typeface="Canva Sans Bold"/>
                </a:rPr>
                <a:t>Kết quả đo (thay bằng số thực tế từ app)</a:t>
              </a:r>
            </a:p>
            <a:p>
              <a:pPr algn="l">
                <a:lnSpc>
                  <a:spcPts val="3445"/>
                </a:lnSpc>
              </a:pPr>
            </a:p>
            <a:p>
              <a:pPr algn="l">
                <a:lnSpc>
                  <a:spcPts val="3445"/>
                </a:lnSpc>
              </a:pPr>
            </a:p>
          </p:txBody>
        </p:sp>
      </p:grpSp>
      <p:graphicFrame>
        <p:nvGraphicFramePr>
          <p:cNvPr name="Table 11" id="11"/>
          <p:cNvGraphicFramePr>
            <a:graphicFrameLocks noGrp="true"/>
          </p:cNvGraphicFramePr>
          <p:nvPr/>
        </p:nvGraphicFramePr>
        <p:xfrm>
          <a:off x="8820860" y="4610003"/>
          <a:ext cx="8913303" cy="5410200"/>
        </p:xfrm>
        <a:graphic>
          <a:graphicData uri="http://schemas.openxmlformats.org/drawingml/2006/table">
            <a:tbl>
              <a:tblPr/>
              <a:tblGrid>
                <a:gridCol w="2404808"/>
                <a:gridCol w="1875362"/>
                <a:gridCol w="2140085"/>
                <a:gridCol w="2493049"/>
              </a:tblGrid>
              <a:tr h="901700">
                <a:tc>
                  <a:txBody>
                    <a:bodyPr anchor="t" rtlCol="false"/>
                    <a:lstStyle/>
                    <a:p>
                      <a:pPr algn="ctr">
                        <a:lnSpc>
                          <a:spcPts val="2663"/>
                        </a:lnSpc>
                        <a:defRPr/>
                      </a:pPr>
                      <a:r>
                        <a:rPr lang="en-US" sz="1902" b="true">
                          <a:solidFill>
                            <a:srgbClr val="000000"/>
                          </a:solidFill>
                          <a:latin typeface="Poppins Bold"/>
                          <a:ea typeface="Poppins Bold"/>
                          <a:cs typeface="Poppins Bold"/>
                          <a:sym typeface="Poppins Bold"/>
                        </a:rPr>
                        <a:t>N(Processes)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b="true">
                          <a:solidFill>
                            <a:srgbClr val="000000"/>
                          </a:solidFill>
                          <a:latin typeface="Poppins Bold"/>
                          <a:ea typeface="Poppins Bold"/>
                          <a:cs typeface="Poppins Bold"/>
                          <a:sym typeface="Poppins Bold"/>
                        </a:rPr>
                        <a:t>FFCF(µs)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b="true">
                          <a:solidFill>
                            <a:srgbClr val="000000"/>
                          </a:solidFill>
                          <a:latin typeface="Poppins Bold"/>
                          <a:ea typeface="Poppins Bold"/>
                          <a:cs typeface="Poppins Bold"/>
                          <a:sym typeface="Poppins Bold"/>
                        </a:rPr>
                        <a:t>Correctness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b="true">
                          <a:solidFill>
                            <a:srgbClr val="000000"/>
                          </a:solidFill>
                          <a:latin typeface="Poppins Bold"/>
                          <a:ea typeface="Poppins Bold"/>
                          <a:cs typeface="Poppins Bold"/>
                          <a:sym typeface="Poppins Bold"/>
                        </a:rPr>
                        <a:t>SJF(µs)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1700">
                <a:tc>
                  <a:txBody>
                    <a:bodyPr anchor="t" rtlCol="false"/>
                    <a:lstStyle/>
                    <a:p>
                      <a:pPr algn="ctr">
                        <a:lnSpc>
                          <a:spcPts val="2663"/>
                        </a:lnSpc>
                        <a:defRPr/>
                      </a:pPr>
                      <a:r>
                        <a:rPr lang="en-US" sz="1902">
                          <a:solidFill>
                            <a:srgbClr val="000000"/>
                          </a:solidFill>
                          <a:latin typeface="Poppins"/>
                          <a:ea typeface="Poppins"/>
                          <a:cs typeface="Poppins"/>
                          <a:sym typeface="Poppins"/>
                        </a:rPr>
                        <a:t>100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&lt; 1</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PASS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&lt; 1</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1700">
                <a:tc>
                  <a:txBody>
                    <a:bodyPr anchor="t" rtlCol="false"/>
                    <a:lstStyle/>
                    <a:p>
                      <a:pPr algn="ctr">
                        <a:lnSpc>
                          <a:spcPts val="2663"/>
                        </a:lnSpc>
                        <a:defRPr/>
                      </a:pPr>
                      <a:r>
                        <a:rPr lang="en-US" sz="1902">
                          <a:solidFill>
                            <a:srgbClr val="000000"/>
                          </a:solidFill>
                          <a:latin typeface="Poppins"/>
                          <a:ea typeface="Poppins"/>
                          <a:cs typeface="Poppins"/>
                          <a:sym typeface="Poppins"/>
                        </a:rPr>
                        <a:t>500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&lt; 1</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PASS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1 - 3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1700">
                <a:tc>
                  <a:txBody>
                    <a:bodyPr anchor="t" rtlCol="false"/>
                    <a:lstStyle/>
                    <a:p>
                      <a:pPr algn="ctr">
                        <a:lnSpc>
                          <a:spcPts val="2663"/>
                        </a:lnSpc>
                        <a:defRPr/>
                      </a:pPr>
                      <a:r>
                        <a:rPr lang="en-US" sz="1902">
                          <a:solidFill>
                            <a:srgbClr val="000000"/>
                          </a:solidFill>
                          <a:latin typeface="Poppins"/>
                          <a:ea typeface="Poppins"/>
                          <a:cs typeface="Poppins"/>
                          <a:sym typeface="Poppins"/>
                        </a:rPr>
                        <a:t>1000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1- 2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PASS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5 - 10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1700">
                <a:tc>
                  <a:txBody>
                    <a:bodyPr anchor="t" rtlCol="false"/>
                    <a:lstStyle/>
                    <a:p>
                      <a:pPr algn="ctr">
                        <a:lnSpc>
                          <a:spcPts val="2663"/>
                        </a:lnSpc>
                        <a:defRPr/>
                      </a:pPr>
                      <a:r>
                        <a:rPr lang="en-US" sz="1902">
                          <a:solidFill>
                            <a:srgbClr val="000000"/>
                          </a:solidFill>
                          <a:latin typeface="Poppins"/>
                          <a:ea typeface="Poppins"/>
                          <a:cs typeface="Poppins"/>
                          <a:sym typeface="Poppins"/>
                        </a:rPr>
                        <a:t>5000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5- 10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PASS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80 - 150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01700">
                <a:tc>
                  <a:txBody>
                    <a:bodyPr anchor="t" rtlCol="false"/>
                    <a:lstStyle/>
                    <a:p>
                      <a:pPr algn="ctr">
                        <a:lnSpc>
                          <a:spcPts val="2663"/>
                        </a:lnSpc>
                        <a:defRPr/>
                      </a:pPr>
                      <a:r>
                        <a:rPr lang="en-US" sz="1902">
                          <a:solidFill>
                            <a:srgbClr val="000000"/>
                          </a:solidFill>
                          <a:latin typeface="Poppins"/>
                          <a:ea typeface="Poppins"/>
                          <a:cs typeface="Poppins"/>
                          <a:sym typeface="Poppins"/>
                        </a:rPr>
                        <a:t>10000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10 - 20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PASS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2663"/>
                        </a:lnSpc>
                        <a:defRPr/>
                      </a:pPr>
                      <a:r>
                        <a:rPr lang="en-US" sz="1902">
                          <a:solidFill>
                            <a:srgbClr val="000000"/>
                          </a:solidFill>
                          <a:latin typeface="Poppins"/>
                          <a:ea typeface="Poppins"/>
                          <a:cs typeface="Poppins"/>
                          <a:sym typeface="Poppins"/>
                        </a:rPr>
                        <a:t>330- 600 </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12" id="12"/>
          <p:cNvSpPr txBox="true"/>
          <p:nvPr/>
        </p:nvSpPr>
        <p:spPr>
          <a:xfrm rot="0">
            <a:off x="361303" y="5658149"/>
            <a:ext cx="8186892" cy="3181466"/>
          </a:xfrm>
          <a:prstGeom prst="rect">
            <a:avLst/>
          </a:prstGeom>
        </p:spPr>
        <p:txBody>
          <a:bodyPr anchor="t" rtlCol="false" tIns="0" lIns="0" bIns="0" rIns="0">
            <a:spAutoFit/>
          </a:bodyPr>
          <a:lstStyle/>
          <a:p>
            <a:pPr algn="l">
              <a:lnSpc>
                <a:spcPts val="3668"/>
              </a:lnSpc>
            </a:pPr>
            <a:r>
              <a:rPr lang="en-US" sz="2620" b="true">
                <a:solidFill>
                  <a:srgbClr val="000000"/>
                </a:solidFill>
                <a:latin typeface="Canva Sans Bold"/>
                <a:ea typeface="Canva Sans Bold"/>
                <a:cs typeface="Canva Sans Bold"/>
                <a:sym typeface="Canva Sans Bold"/>
              </a:rPr>
              <a:t>·</a:t>
            </a:r>
            <a:r>
              <a:rPr lang="en-US" sz="2620">
                <a:solidFill>
                  <a:srgbClr val="000000"/>
                </a:solidFill>
                <a:latin typeface="Canva Sans"/>
                <a:ea typeface="Canva Sans"/>
                <a:cs typeface="Canva Sans"/>
                <a:sym typeface="Canva Sans"/>
              </a:rPr>
              <a:t>FCFS tăng gần tuyến tính — O(n log n), chủ yếu do bước sort ban đầu.</a:t>
            </a:r>
          </a:p>
          <a:p>
            <a:pPr algn="l">
              <a:lnSpc>
                <a:spcPts val="3668"/>
              </a:lnSpc>
            </a:pPr>
            <a:r>
              <a:rPr lang="en-US" sz="2620">
                <a:solidFill>
                  <a:srgbClr val="000000"/>
                </a:solidFill>
                <a:latin typeface="Canva Sans"/>
                <a:ea typeface="Canva Sans"/>
                <a:cs typeface="Canva Sans"/>
                <a:sym typeface="Canva Sans"/>
              </a:rPr>
              <a:t>· SJF tăng nhanh hơn ở N lớn — O(n²), do scan toàn mảng mỗi lần dispatch.</a:t>
            </a:r>
          </a:p>
          <a:p>
            <a:pPr algn="l">
              <a:lnSpc>
                <a:spcPts val="3668"/>
              </a:lnSpc>
            </a:pPr>
            <a:r>
              <a:rPr lang="en-US" sz="2620">
                <a:solidFill>
                  <a:srgbClr val="000000"/>
                </a:solidFill>
                <a:latin typeface="Canva Sans"/>
                <a:ea typeface="Canva Sans"/>
                <a:cs typeface="Canva Sans"/>
                <a:sym typeface="Canva Sans"/>
              </a:rPr>
              <a:t>·Cả hai xử lý 10.000 tiến trình dưới 1 giây — đủ dùng thực tế.</a:t>
            </a:r>
          </a:p>
          <a:p>
            <a:pPr algn="ctr">
              <a:lnSpc>
                <a:spcPts val="3668"/>
              </a:lnSpc>
              <a:spcBef>
                <a:spcPct val="0"/>
              </a:spcBef>
            </a:pP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88" r="0" b="-38888"/>
            </a:stretch>
          </a:blipFill>
        </p:spPr>
      </p:sp>
      <p:grpSp>
        <p:nvGrpSpPr>
          <p:cNvPr name="Group 3" id="3"/>
          <p:cNvGrpSpPr/>
          <p:nvPr/>
        </p:nvGrpSpPr>
        <p:grpSpPr>
          <a:xfrm rot="0">
            <a:off x="-2481900" y="916699"/>
            <a:ext cx="21311029" cy="1464829"/>
            <a:chOff x="0" y="0"/>
            <a:chExt cx="5612781" cy="385799"/>
          </a:xfrm>
        </p:grpSpPr>
        <p:sp>
          <p:nvSpPr>
            <p:cNvPr name="Freeform 4" id="4"/>
            <p:cNvSpPr/>
            <p:nvPr/>
          </p:nvSpPr>
          <p:spPr>
            <a:xfrm flipH="false" flipV="false" rot="0">
              <a:off x="0" y="0"/>
              <a:ext cx="5612781" cy="385799"/>
            </a:xfrm>
            <a:custGeom>
              <a:avLst/>
              <a:gdLst/>
              <a:ahLst/>
              <a:cxnLst/>
              <a:rect r="r" b="b" t="t" l="l"/>
              <a:pathLst>
                <a:path h="385799" w="5612781">
                  <a:moveTo>
                    <a:pt x="0" y="0"/>
                  </a:moveTo>
                  <a:lnTo>
                    <a:pt x="5612781" y="0"/>
                  </a:lnTo>
                  <a:lnTo>
                    <a:pt x="5612781" y="385799"/>
                  </a:lnTo>
                  <a:lnTo>
                    <a:pt x="0" y="385799"/>
                  </a:lnTo>
                  <a:close/>
                </a:path>
              </a:pathLst>
            </a:custGeom>
            <a:solidFill>
              <a:srgbClr val="2B59C3">
                <a:alpha val="71765"/>
              </a:srgbClr>
            </a:solidFill>
          </p:spPr>
        </p:sp>
        <p:sp>
          <p:nvSpPr>
            <p:cNvPr name="TextBox 5" id="5"/>
            <p:cNvSpPr txBox="true"/>
            <p:nvPr/>
          </p:nvSpPr>
          <p:spPr>
            <a:xfrm>
              <a:off x="0" y="28575"/>
              <a:ext cx="5612781" cy="357224"/>
            </a:xfrm>
            <a:prstGeom prst="rect">
              <a:avLst/>
            </a:prstGeom>
          </p:spPr>
          <p:txBody>
            <a:bodyPr anchor="ctr" rtlCol="false" tIns="50800" lIns="50800" bIns="50800" rIns="50800"/>
            <a:lstStyle/>
            <a:p>
              <a:pPr algn="ctr">
                <a:lnSpc>
                  <a:spcPts val="2661"/>
                </a:lnSpc>
              </a:pPr>
            </a:p>
          </p:txBody>
        </p:sp>
      </p:grpSp>
      <p:sp>
        <p:nvSpPr>
          <p:cNvPr name="Freeform 6" id="6"/>
          <p:cNvSpPr/>
          <p:nvPr/>
        </p:nvSpPr>
        <p:spPr>
          <a:xfrm flipH="false" flipV="false" rot="0">
            <a:off x="0" y="2874209"/>
            <a:ext cx="3823614" cy="2780810"/>
          </a:xfrm>
          <a:custGeom>
            <a:avLst/>
            <a:gdLst/>
            <a:ahLst/>
            <a:cxnLst/>
            <a:rect r="r" b="b" t="t" l="l"/>
            <a:pathLst>
              <a:path h="2780810" w="3823614">
                <a:moveTo>
                  <a:pt x="0" y="0"/>
                </a:moveTo>
                <a:lnTo>
                  <a:pt x="3823614" y="0"/>
                </a:lnTo>
                <a:lnTo>
                  <a:pt x="3823614" y="2780811"/>
                </a:lnTo>
                <a:lnTo>
                  <a:pt x="0" y="27808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7" id="7"/>
          <p:cNvSpPr/>
          <p:nvPr/>
        </p:nvSpPr>
        <p:spPr>
          <a:xfrm flipH="false" flipV="false" rot="0">
            <a:off x="0" y="6477490"/>
            <a:ext cx="3823614" cy="2780810"/>
          </a:xfrm>
          <a:custGeom>
            <a:avLst/>
            <a:gdLst/>
            <a:ahLst/>
            <a:cxnLst/>
            <a:rect r="r" b="b" t="t" l="l"/>
            <a:pathLst>
              <a:path h="2780810" w="3823614">
                <a:moveTo>
                  <a:pt x="0" y="0"/>
                </a:moveTo>
                <a:lnTo>
                  <a:pt x="3823614" y="0"/>
                </a:lnTo>
                <a:lnTo>
                  <a:pt x="3823614" y="2780810"/>
                </a:lnTo>
                <a:lnTo>
                  <a:pt x="0" y="278081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8" id="8"/>
          <p:cNvGrpSpPr/>
          <p:nvPr/>
        </p:nvGrpSpPr>
        <p:grpSpPr>
          <a:xfrm rot="0">
            <a:off x="4907207" y="5960296"/>
            <a:ext cx="12908686" cy="4514968"/>
            <a:chOff x="0" y="0"/>
            <a:chExt cx="14011561" cy="4900712"/>
          </a:xfrm>
        </p:grpSpPr>
        <p:sp>
          <p:nvSpPr>
            <p:cNvPr name="Freeform 9" id="9"/>
            <p:cNvSpPr/>
            <p:nvPr/>
          </p:nvSpPr>
          <p:spPr>
            <a:xfrm flipH="false" flipV="false" rot="0">
              <a:off x="0" y="0"/>
              <a:ext cx="14011562" cy="4799112"/>
            </a:xfrm>
            <a:custGeom>
              <a:avLst/>
              <a:gdLst/>
              <a:ahLst/>
              <a:cxnLst/>
              <a:rect r="r" b="b" t="t" l="l"/>
              <a:pathLst>
                <a:path h="4799112" w="14011562">
                  <a:moveTo>
                    <a:pt x="0" y="0"/>
                  </a:moveTo>
                  <a:lnTo>
                    <a:pt x="14011562" y="0"/>
                  </a:lnTo>
                  <a:lnTo>
                    <a:pt x="14011562" y="4799112"/>
                  </a:lnTo>
                  <a:lnTo>
                    <a:pt x="0" y="4799112"/>
                  </a:lnTo>
                  <a:close/>
                </a:path>
              </a:pathLst>
            </a:custGeom>
            <a:solidFill>
              <a:srgbClr val="83C3FF"/>
            </a:solidFill>
          </p:spPr>
        </p:sp>
        <p:sp>
          <p:nvSpPr>
            <p:cNvPr name="Freeform 10" id="10"/>
            <p:cNvSpPr/>
            <p:nvPr/>
          </p:nvSpPr>
          <p:spPr>
            <a:xfrm flipH="false" flipV="false" rot="0">
              <a:off x="0" y="0"/>
              <a:ext cx="14011562" cy="4900712"/>
            </a:xfrm>
            <a:custGeom>
              <a:avLst/>
              <a:gdLst/>
              <a:ahLst/>
              <a:cxnLst/>
              <a:rect r="r" b="b" t="t" l="l"/>
              <a:pathLst>
                <a:path h="4900712" w="14011562">
                  <a:moveTo>
                    <a:pt x="0" y="4799112"/>
                  </a:moveTo>
                  <a:lnTo>
                    <a:pt x="14011562" y="4799112"/>
                  </a:lnTo>
                  <a:lnTo>
                    <a:pt x="13884562" y="4900712"/>
                  </a:lnTo>
                  <a:cubicBezTo>
                    <a:pt x="13884562" y="4900712"/>
                    <a:pt x="12893962" y="4824512"/>
                    <a:pt x="12792362" y="4824512"/>
                  </a:cubicBezTo>
                  <a:lnTo>
                    <a:pt x="1219200" y="4824512"/>
                  </a:lnTo>
                  <a:cubicBezTo>
                    <a:pt x="1117600" y="4824512"/>
                    <a:pt x="127000" y="4900712"/>
                    <a:pt x="127000" y="4900712"/>
                  </a:cubicBezTo>
                  <a:lnTo>
                    <a:pt x="0" y="4799112"/>
                  </a:lnTo>
                  <a:lnTo>
                    <a:pt x="0" y="0"/>
                  </a:lnTo>
                  <a:lnTo>
                    <a:pt x="14011562" y="0"/>
                  </a:lnTo>
                  <a:lnTo>
                    <a:pt x="14011562" y="4799112"/>
                  </a:lnTo>
                  <a:lnTo>
                    <a:pt x="12700" y="4799112"/>
                  </a:lnTo>
                  <a:lnTo>
                    <a:pt x="12700" y="4786412"/>
                  </a:lnTo>
                  <a:lnTo>
                    <a:pt x="13998862" y="4786412"/>
                  </a:lnTo>
                  <a:lnTo>
                    <a:pt x="13998862" y="12700"/>
                  </a:lnTo>
                  <a:lnTo>
                    <a:pt x="12700" y="12700"/>
                  </a:lnTo>
                  <a:lnTo>
                    <a:pt x="12700" y="4799112"/>
                  </a:lnTo>
                </a:path>
              </a:pathLst>
            </a:custGeom>
            <a:solidFill>
              <a:srgbClr val="394C60">
                <a:alpha val="784"/>
              </a:srgbClr>
            </a:solidFill>
          </p:spPr>
        </p:sp>
        <p:sp>
          <p:nvSpPr>
            <p:cNvPr name="TextBox 11" id="11"/>
            <p:cNvSpPr txBox="true"/>
            <p:nvPr/>
          </p:nvSpPr>
          <p:spPr>
            <a:xfrm>
              <a:off x="0" y="-38100"/>
              <a:ext cx="14011561" cy="4837212"/>
            </a:xfrm>
            <a:prstGeom prst="rect">
              <a:avLst/>
            </a:prstGeom>
          </p:spPr>
          <p:txBody>
            <a:bodyPr anchor="t" rtlCol="false" tIns="249608" lIns="249608" bIns="249608" rIns="249608"/>
            <a:lstStyle/>
            <a:p>
              <a:pPr algn="l">
                <a:lnSpc>
                  <a:spcPts val="3164"/>
                </a:lnSpc>
              </a:pPr>
              <a:r>
                <a:rPr lang="en-US" sz="2260">
                  <a:solidFill>
                    <a:srgbClr val="000000"/>
                  </a:solidFill>
                  <a:latin typeface="Canva Sans"/>
                  <a:ea typeface="Canva Sans"/>
                  <a:cs typeface="Canva Sans"/>
                  <a:sym typeface="Canva Sans"/>
                </a:rPr>
                <a:t>·    Tách logic thuật toán khỏi GUI (header-only Scheduler.h, FCFS.h, SJF.h) giúp viết unit test độc lập không cần Qt.</a:t>
              </a:r>
            </a:p>
            <a:p>
              <a:pPr algn="l">
                <a:lnSpc>
                  <a:spcPts val="3164"/>
                </a:lnSpc>
              </a:pPr>
              <a:r>
                <a:rPr lang="en-US" sz="2260">
                  <a:solidFill>
                    <a:srgbClr val="000000"/>
                  </a:solidFill>
                  <a:latin typeface="Canva Sans"/>
                  <a:ea typeface="Canva Sans"/>
                  <a:cs typeface="Canva Sans"/>
                  <a:sym typeface="Canva Sans"/>
                </a:rPr>
                <a:t>·    Thiết kế layout Qt bằng designer trước khi code — tránh mất thời gian debug widget bị ẩn hoặc kích thước sai.</a:t>
              </a:r>
            </a:p>
            <a:p>
              <a:pPr algn="l">
                <a:lnSpc>
                  <a:spcPts val="3163"/>
                </a:lnSpc>
              </a:pPr>
              <a:r>
                <a:rPr lang="en-US" sz="2259">
                  <a:solidFill>
                    <a:srgbClr val="000000"/>
                  </a:solidFill>
                  <a:latin typeface="Canva Sans"/>
                  <a:ea typeface="Canva Sans"/>
                  <a:cs typeface="Canva Sans"/>
                  <a:sym typeface="Canva Sans"/>
                </a:rPr>
                <a:t>·    Khi stress test: tạo dữ liệu 1 lần, tái sử dụng cho cả log và CSV export — kết quả nhất quán.</a:t>
              </a:r>
            </a:p>
            <a:p>
              <a:pPr algn="l">
                <a:lnSpc>
                  <a:spcPts val="3163"/>
                </a:lnSpc>
              </a:pPr>
              <a:r>
                <a:rPr lang="en-US" sz="2259">
                  <a:solidFill>
                    <a:srgbClr val="000000"/>
                  </a:solidFill>
                  <a:latin typeface="Canva Sans"/>
                  <a:ea typeface="Canva Sans"/>
                  <a:cs typeface="Canva Sans"/>
                  <a:sym typeface="Canva Sans"/>
                </a:rPr>
                <a:t>·    Kiểm chứng với ví dụ sách giáo khoa là cách đáng tin cậy nhất để xác nhận thuật toán đúng.</a:t>
              </a:r>
            </a:p>
            <a:p>
              <a:pPr algn="l">
                <a:lnSpc>
                  <a:spcPts val="3164"/>
                </a:lnSpc>
              </a:pPr>
              <a:r>
                <a:rPr lang="en-US" sz="2260">
                  <a:solidFill>
                    <a:srgbClr val="000000"/>
                  </a:solidFill>
                  <a:latin typeface="Canva Sans"/>
                  <a:ea typeface="Canva Sans"/>
                  <a:cs typeface="Canva Sans"/>
                  <a:sym typeface="Canva Sans"/>
                </a:rPr>
                <a:t>·    unit_test.cpp KHÔNG đưa vào SOURCES của .pro Qt — sẽ xung đột hàm main(). Phải build riêng bằng g++.</a:t>
              </a:r>
            </a:p>
          </p:txBody>
        </p:sp>
      </p:grpSp>
      <p:grpSp>
        <p:nvGrpSpPr>
          <p:cNvPr name="Group 12" id="12"/>
          <p:cNvGrpSpPr/>
          <p:nvPr/>
        </p:nvGrpSpPr>
        <p:grpSpPr>
          <a:xfrm rot="0">
            <a:off x="4907207" y="2562285"/>
            <a:ext cx="12908686" cy="3217036"/>
            <a:chOff x="0" y="0"/>
            <a:chExt cx="17211582" cy="4289382"/>
          </a:xfrm>
        </p:grpSpPr>
        <p:sp>
          <p:nvSpPr>
            <p:cNvPr name="Freeform 13" id="13"/>
            <p:cNvSpPr/>
            <p:nvPr/>
          </p:nvSpPr>
          <p:spPr>
            <a:xfrm flipH="false" flipV="false" rot="0">
              <a:off x="0" y="0"/>
              <a:ext cx="17211582" cy="4187782"/>
            </a:xfrm>
            <a:custGeom>
              <a:avLst/>
              <a:gdLst/>
              <a:ahLst/>
              <a:cxnLst/>
              <a:rect r="r" b="b" t="t" l="l"/>
              <a:pathLst>
                <a:path h="4187782" w="17211582">
                  <a:moveTo>
                    <a:pt x="0" y="0"/>
                  </a:moveTo>
                  <a:lnTo>
                    <a:pt x="17211582" y="0"/>
                  </a:lnTo>
                  <a:lnTo>
                    <a:pt x="17211582" y="4187782"/>
                  </a:lnTo>
                  <a:lnTo>
                    <a:pt x="0" y="4187782"/>
                  </a:lnTo>
                  <a:close/>
                </a:path>
              </a:pathLst>
            </a:custGeom>
            <a:solidFill>
              <a:srgbClr val="83C3FF"/>
            </a:solidFill>
          </p:spPr>
        </p:sp>
        <p:sp>
          <p:nvSpPr>
            <p:cNvPr name="Freeform 14" id="14"/>
            <p:cNvSpPr/>
            <p:nvPr/>
          </p:nvSpPr>
          <p:spPr>
            <a:xfrm flipH="false" flipV="false" rot="0">
              <a:off x="0" y="0"/>
              <a:ext cx="17211582" cy="4289382"/>
            </a:xfrm>
            <a:custGeom>
              <a:avLst/>
              <a:gdLst/>
              <a:ahLst/>
              <a:cxnLst/>
              <a:rect r="r" b="b" t="t" l="l"/>
              <a:pathLst>
                <a:path h="4289382" w="17211582">
                  <a:moveTo>
                    <a:pt x="0" y="4187782"/>
                  </a:moveTo>
                  <a:lnTo>
                    <a:pt x="17211582" y="4187782"/>
                  </a:lnTo>
                  <a:lnTo>
                    <a:pt x="17084582" y="4289382"/>
                  </a:lnTo>
                  <a:cubicBezTo>
                    <a:pt x="17084582" y="4289382"/>
                    <a:pt x="16093982" y="4213182"/>
                    <a:pt x="15992382" y="4213182"/>
                  </a:cubicBezTo>
                  <a:lnTo>
                    <a:pt x="1219200" y="4213182"/>
                  </a:lnTo>
                  <a:cubicBezTo>
                    <a:pt x="1117600" y="4213182"/>
                    <a:pt x="127000" y="4289382"/>
                    <a:pt x="127000" y="4289382"/>
                  </a:cubicBezTo>
                  <a:lnTo>
                    <a:pt x="0" y="4187782"/>
                  </a:lnTo>
                  <a:lnTo>
                    <a:pt x="0" y="0"/>
                  </a:lnTo>
                  <a:lnTo>
                    <a:pt x="17211582" y="0"/>
                  </a:lnTo>
                  <a:lnTo>
                    <a:pt x="17211582" y="4187782"/>
                  </a:lnTo>
                  <a:lnTo>
                    <a:pt x="12700" y="4187782"/>
                  </a:lnTo>
                  <a:lnTo>
                    <a:pt x="12700" y="4175082"/>
                  </a:lnTo>
                  <a:lnTo>
                    <a:pt x="17198882" y="4175082"/>
                  </a:lnTo>
                  <a:lnTo>
                    <a:pt x="17198882" y="12700"/>
                  </a:lnTo>
                  <a:lnTo>
                    <a:pt x="12700" y="12700"/>
                  </a:lnTo>
                  <a:lnTo>
                    <a:pt x="12700" y="4187782"/>
                  </a:lnTo>
                </a:path>
              </a:pathLst>
            </a:custGeom>
            <a:solidFill>
              <a:srgbClr val="394C60">
                <a:alpha val="784"/>
              </a:srgbClr>
            </a:solidFill>
          </p:spPr>
        </p:sp>
        <p:sp>
          <p:nvSpPr>
            <p:cNvPr name="TextBox 15" id="15"/>
            <p:cNvSpPr txBox="true"/>
            <p:nvPr/>
          </p:nvSpPr>
          <p:spPr>
            <a:xfrm>
              <a:off x="0" y="-38100"/>
              <a:ext cx="17211582" cy="4225882"/>
            </a:xfrm>
            <a:prstGeom prst="rect">
              <a:avLst/>
            </a:prstGeom>
          </p:spPr>
          <p:txBody>
            <a:bodyPr anchor="t" rtlCol="false" tIns="203200" lIns="203200" bIns="203200" rIns="203200"/>
            <a:lstStyle/>
            <a:p>
              <a:pPr algn="l">
                <a:lnSpc>
                  <a:spcPts val="3079"/>
                </a:lnSpc>
              </a:pPr>
              <a:r>
                <a:rPr lang="en-US" sz="2199">
                  <a:solidFill>
                    <a:srgbClr val="000000"/>
                  </a:solidFill>
                  <a:latin typeface="Canva Sans"/>
                  <a:ea typeface="Canva Sans"/>
                  <a:cs typeface="Canva Sans"/>
                  <a:sym typeface="Canva Sans"/>
                </a:rPr>
                <a:t>mainwindow.ui: frameGantt chỉ 26×26px — Gantt không hiện</a:t>
              </a:r>
            </a:p>
            <a:p>
              <a:pPr algn="l">
                <a:lnSpc>
                  <a:spcPts val="1680"/>
                </a:lnSpc>
              </a:pPr>
            </a:p>
            <a:p>
              <a:pPr algn="l">
                <a:lnSpc>
                  <a:spcPts val="3079"/>
                </a:lnSpc>
              </a:pPr>
              <a:r>
                <a:rPr lang="en-US" sz="2199">
                  <a:solidFill>
                    <a:srgbClr val="000000"/>
                  </a:solidFill>
                  <a:latin typeface="Canva Sans"/>
                  <a:ea typeface="Canva Sans"/>
                  <a:cs typeface="Canva Sans"/>
                  <a:sym typeface="Canva Sans"/>
                </a:rPr>
                <a:t>QString::arg() không dùng %.2f như C printf</a:t>
              </a:r>
            </a:p>
            <a:p>
              <a:pPr algn="l">
                <a:lnSpc>
                  <a:spcPts val="1680"/>
                </a:lnSpc>
              </a:pPr>
            </a:p>
            <a:p>
              <a:pPr algn="l">
                <a:lnSpc>
                  <a:spcPts val="3079"/>
                </a:lnSpc>
              </a:pPr>
              <a:r>
                <a:rPr lang="en-US" sz="2199">
                  <a:solidFill>
                    <a:srgbClr val="000000"/>
                  </a:solidFill>
                  <a:latin typeface="Canva Sans"/>
                  <a:ea typeface="Canva Sans"/>
                  <a:cs typeface="Canva Sans"/>
                  <a:sym typeface="Canva Sans"/>
                </a:rPr>
                <a:t>Stress test: log và CSV xuất ra số khác nhau</a:t>
              </a:r>
            </a:p>
            <a:p>
              <a:pPr algn="l">
                <a:lnSpc>
                  <a:spcPts val="1680"/>
                </a:lnSpc>
              </a:pPr>
            </a:p>
            <a:p>
              <a:pPr algn="l">
                <a:lnSpc>
                  <a:spcPts val="3079"/>
                </a:lnSpc>
              </a:pPr>
              <a:r>
                <a:rPr lang="en-US" sz="2199">
                  <a:solidFill>
                    <a:srgbClr val="000000"/>
                  </a:solidFill>
                  <a:latin typeface="Canva Sans"/>
                  <a:ea typeface="Canva Sans"/>
                  <a:cs typeface="Canva Sans"/>
                  <a:sym typeface="Canva Sans"/>
                </a:rPr>
                <a:t>unit_test.cpp không build sau khi tách FCFS.h &amp; SJF.h</a:t>
              </a:r>
            </a:p>
            <a:p>
              <a:pPr algn="l">
                <a:lnSpc>
                  <a:spcPts val="1680"/>
                </a:lnSpc>
              </a:pPr>
            </a:p>
            <a:p>
              <a:pPr algn="l">
                <a:lnSpc>
                  <a:spcPts val="3079"/>
                </a:lnSpc>
              </a:pPr>
              <a:r>
                <a:rPr lang="en-US" sz="2199">
                  <a:solidFill>
                    <a:srgbClr val="000000"/>
                  </a:solidFill>
                  <a:latin typeface="Canva Sans"/>
                  <a:ea typeface="Canva Sans"/>
                  <a:cs typeface="Canva Sans"/>
                  <a:sym typeface="Canva Sans"/>
                </a:rPr>
                <a:t>SJF currentTime++ chậm khi arrival lớn</a:t>
              </a:r>
            </a:p>
          </p:txBody>
        </p:sp>
      </p:grpSp>
      <p:pic>
        <p:nvPicPr>
          <p:cNvPr name="Picture 16" id="16"/>
          <p:cNvPicPr>
            <a:picLocks noChangeAspect="true"/>
          </p:cNvPicPr>
          <p:nvPr/>
        </p:nvPicPr>
        <p:blipFill>
          <a:blip r:embed="rId5"/>
          <a:stretch>
            <a:fillRect/>
          </a:stretch>
        </p:blipFill>
        <p:spPr>
          <a:xfrm rot="0">
            <a:off x="3715255" y="7067346"/>
            <a:ext cx="1300310" cy="1276109"/>
          </a:xfrm>
          <a:prstGeom prst="rect">
            <a:avLst/>
          </a:prstGeom>
        </p:spPr>
      </p:pic>
      <p:sp>
        <p:nvSpPr>
          <p:cNvPr name="TextBox 17" id="17"/>
          <p:cNvSpPr txBox="true"/>
          <p:nvPr/>
        </p:nvSpPr>
        <p:spPr>
          <a:xfrm rot="0">
            <a:off x="1028700" y="1271577"/>
            <a:ext cx="16787193" cy="850321"/>
          </a:xfrm>
          <a:prstGeom prst="rect">
            <a:avLst/>
          </a:prstGeom>
        </p:spPr>
        <p:txBody>
          <a:bodyPr anchor="t" rtlCol="false" tIns="0" lIns="0" bIns="0" rIns="0">
            <a:spAutoFit/>
          </a:bodyPr>
          <a:lstStyle/>
          <a:p>
            <a:pPr algn="ctr">
              <a:lnSpc>
                <a:spcPts val="6470"/>
              </a:lnSpc>
              <a:spcBef>
                <a:spcPct val="0"/>
              </a:spcBef>
            </a:pPr>
            <a:r>
              <a:rPr lang="en-US" b="true" sz="6221">
                <a:solidFill>
                  <a:srgbClr val="F0F7FE"/>
                </a:solidFill>
                <a:latin typeface="Faustina Bold"/>
                <a:ea typeface="Faustina Bold"/>
                <a:cs typeface="Faustina Bold"/>
                <a:sym typeface="Faustina Bold"/>
              </a:rPr>
              <a:t>NHỮNG KHÓ KHĂN VÀ BÀI HỌC RÚT RA</a:t>
            </a:r>
          </a:p>
        </p:txBody>
      </p:sp>
      <p:sp>
        <p:nvSpPr>
          <p:cNvPr name="TextBox 18" id="18"/>
          <p:cNvSpPr txBox="true"/>
          <p:nvPr/>
        </p:nvSpPr>
        <p:spPr>
          <a:xfrm rot="0">
            <a:off x="0" y="3901706"/>
            <a:ext cx="4081597" cy="481261"/>
          </a:xfrm>
          <a:prstGeom prst="rect">
            <a:avLst/>
          </a:prstGeom>
        </p:spPr>
        <p:txBody>
          <a:bodyPr anchor="t" rtlCol="false" tIns="0" lIns="0" bIns="0" rIns="0">
            <a:spAutoFit/>
          </a:bodyPr>
          <a:lstStyle/>
          <a:p>
            <a:pPr algn="ctr">
              <a:lnSpc>
                <a:spcPts val="3923"/>
              </a:lnSpc>
              <a:spcBef>
                <a:spcPct val="0"/>
              </a:spcBef>
            </a:pPr>
            <a:r>
              <a:rPr lang="en-US" b="true" sz="2802">
                <a:solidFill>
                  <a:srgbClr val="1E4684"/>
                </a:solidFill>
                <a:latin typeface="Canva Sans Bold"/>
                <a:ea typeface="Canva Sans Bold"/>
                <a:cs typeface="Canva Sans Bold"/>
                <a:sym typeface="Canva Sans Bold"/>
              </a:rPr>
              <a:t>Khó khăn gặp phải</a:t>
            </a:r>
          </a:p>
        </p:txBody>
      </p:sp>
      <p:sp>
        <p:nvSpPr>
          <p:cNvPr name="TextBox 19" id="19"/>
          <p:cNvSpPr txBox="true"/>
          <p:nvPr/>
        </p:nvSpPr>
        <p:spPr>
          <a:xfrm rot="0">
            <a:off x="881874" y="7436195"/>
            <a:ext cx="2317849" cy="481261"/>
          </a:xfrm>
          <a:prstGeom prst="rect">
            <a:avLst/>
          </a:prstGeom>
        </p:spPr>
        <p:txBody>
          <a:bodyPr anchor="t" rtlCol="false" tIns="0" lIns="0" bIns="0" rIns="0">
            <a:spAutoFit/>
          </a:bodyPr>
          <a:lstStyle/>
          <a:p>
            <a:pPr algn="ctr">
              <a:lnSpc>
                <a:spcPts val="3923"/>
              </a:lnSpc>
              <a:spcBef>
                <a:spcPct val="0"/>
              </a:spcBef>
            </a:pPr>
            <a:r>
              <a:rPr lang="en-US" b="true" sz="2802">
                <a:solidFill>
                  <a:srgbClr val="1E4684"/>
                </a:solidFill>
                <a:latin typeface="Canva Sans Bold"/>
                <a:ea typeface="Canva Sans Bold"/>
                <a:cs typeface="Canva Sans Bold"/>
                <a:sym typeface="Canva Sans Bold"/>
              </a:rPr>
              <a:t>Bài học rút ra</a:t>
            </a:r>
          </a:p>
        </p:txBody>
      </p:sp>
      <p:pic>
        <p:nvPicPr>
          <p:cNvPr name="Picture 20" id="20"/>
          <p:cNvPicPr>
            <a:picLocks noChangeAspect="true"/>
          </p:cNvPicPr>
          <p:nvPr/>
        </p:nvPicPr>
        <p:blipFill>
          <a:blip r:embed="rId6"/>
          <a:stretch>
            <a:fillRect/>
          </a:stretch>
        </p:blipFill>
        <p:spPr>
          <a:xfrm rot="0">
            <a:off x="3715255" y="3532857"/>
            <a:ext cx="1300310" cy="1276109"/>
          </a:xfrm>
          <a:prstGeom prst="rect">
            <a:avLst/>
          </a:prstGeom>
        </p:spPr>
      </p:pic>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gradFill rotWithShape="true">
          <a:gsLst>
            <a:gs pos="0">
              <a:srgbClr val="CDFFD8">
                <a:alpha val="100000"/>
              </a:srgbClr>
            </a:gs>
            <a:gs pos="100000">
              <a:srgbClr val="94B9FF">
                <a:alpha val="100000"/>
              </a:srgbClr>
            </a:gs>
          </a:gsLst>
          <a:lin ang="0"/>
        </a:gradFill>
      </p:bgPr>
    </p:bg>
    <p:spTree>
      <p:nvGrpSpPr>
        <p:cNvPr id="1" name=""/>
        <p:cNvGrpSpPr/>
        <p:nvPr/>
      </p:nvGrpSpPr>
      <p:grpSpPr>
        <a:xfrm>
          <a:off x="0" y="0"/>
          <a:ext cx="0" cy="0"/>
          <a:chOff x="0" y="0"/>
          <a:chExt cx="0" cy="0"/>
        </a:xfrm>
      </p:grpSpPr>
      <p:sp>
        <p:nvSpPr>
          <p:cNvPr name="TextBox 2" id="2"/>
          <p:cNvSpPr txBox="true"/>
          <p:nvPr/>
        </p:nvSpPr>
        <p:spPr>
          <a:xfrm rot="0">
            <a:off x="4343201" y="3524717"/>
            <a:ext cx="9601597" cy="3370915"/>
          </a:xfrm>
          <a:prstGeom prst="rect">
            <a:avLst/>
          </a:prstGeom>
        </p:spPr>
        <p:txBody>
          <a:bodyPr anchor="t" rtlCol="false" tIns="0" lIns="0" bIns="0" rIns="0">
            <a:spAutoFit/>
          </a:bodyPr>
          <a:lstStyle/>
          <a:p>
            <a:pPr algn="ctr">
              <a:lnSpc>
                <a:spcPts val="11086"/>
              </a:lnSpc>
            </a:pPr>
            <a:r>
              <a:rPr lang="en-US" sz="13857">
                <a:solidFill>
                  <a:srgbClr val="000000"/>
                </a:solidFill>
                <a:latin typeface="Agrandir Grand"/>
                <a:ea typeface="Agrandir Grand"/>
                <a:cs typeface="Agrandir Grand"/>
                <a:sym typeface="Agrandir Grand"/>
              </a:rPr>
              <a:t>THANK YOU</a:t>
            </a:r>
          </a:p>
        </p:txBody>
      </p:sp>
      <p:sp>
        <p:nvSpPr>
          <p:cNvPr name="Freeform 3" id="3"/>
          <p:cNvSpPr/>
          <p:nvPr/>
        </p:nvSpPr>
        <p:spPr>
          <a:xfrm flipH="false" flipV="false" rot="0">
            <a:off x="1028700" y="9068863"/>
            <a:ext cx="244005" cy="189437"/>
          </a:xfrm>
          <a:custGeom>
            <a:avLst/>
            <a:gdLst/>
            <a:ahLst/>
            <a:cxnLst/>
            <a:rect r="r" b="b" t="t" l="l"/>
            <a:pathLst>
              <a:path h="189437" w="244005">
                <a:moveTo>
                  <a:pt x="0" y="0"/>
                </a:moveTo>
                <a:lnTo>
                  <a:pt x="244005" y="0"/>
                </a:lnTo>
                <a:lnTo>
                  <a:pt x="244005" y="189437"/>
                </a:lnTo>
                <a:lnTo>
                  <a:pt x="0" y="18943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0">
            <a:off x="17015295" y="9068863"/>
            <a:ext cx="244005" cy="189437"/>
          </a:xfrm>
          <a:custGeom>
            <a:avLst/>
            <a:gdLst/>
            <a:ahLst/>
            <a:cxnLst/>
            <a:rect r="r" b="b" t="t" l="l"/>
            <a:pathLst>
              <a:path h="189437" w="244005">
                <a:moveTo>
                  <a:pt x="244005" y="0"/>
                </a:moveTo>
                <a:lnTo>
                  <a:pt x="0" y="0"/>
                </a:lnTo>
                <a:lnTo>
                  <a:pt x="0" y="189437"/>
                </a:lnTo>
                <a:lnTo>
                  <a:pt x="244005" y="189437"/>
                </a:lnTo>
                <a:lnTo>
                  <a:pt x="244005"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10800000">
            <a:off x="17015295" y="1028700"/>
            <a:ext cx="244005" cy="189437"/>
          </a:xfrm>
          <a:custGeom>
            <a:avLst/>
            <a:gdLst/>
            <a:ahLst/>
            <a:cxnLst/>
            <a:rect r="r" b="b" t="t" l="l"/>
            <a:pathLst>
              <a:path h="189437" w="244005">
                <a:moveTo>
                  <a:pt x="0" y="0"/>
                </a:moveTo>
                <a:lnTo>
                  <a:pt x="244005" y="0"/>
                </a:lnTo>
                <a:lnTo>
                  <a:pt x="244005" y="189437"/>
                </a:lnTo>
                <a:lnTo>
                  <a:pt x="0" y="18943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true" flipV="false" rot="-10800000">
            <a:off x="1028700" y="1028700"/>
            <a:ext cx="244005" cy="189437"/>
          </a:xfrm>
          <a:custGeom>
            <a:avLst/>
            <a:gdLst/>
            <a:ahLst/>
            <a:cxnLst/>
            <a:rect r="r" b="b" t="t" l="l"/>
            <a:pathLst>
              <a:path h="189437" w="244005">
                <a:moveTo>
                  <a:pt x="244005" y="0"/>
                </a:moveTo>
                <a:lnTo>
                  <a:pt x="0" y="0"/>
                </a:lnTo>
                <a:lnTo>
                  <a:pt x="0" y="189437"/>
                </a:lnTo>
                <a:lnTo>
                  <a:pt x="244005" y="189437"/>
                </a:lnTo>
                <a:lnTo>
                  <a:pt x="244005"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1461634">
            <a:off x="13990689" y="2320970"/>
            <a:ext cx="4758175" cy="5055166"/>
          </a:xfrm>
          <a:custGeom>
            <a:avLst/>
            <a:gdLst/>
            <a:ahLst/>
            <a:cxnLst/>
            <a:rect r="r" b="b" t="t" l="l"/>
            <a:pathLst>
              <a:path h="5055166" w="4758175">
                <a:moveTo>
                  <a:pt x="0" y="0"/>
                </a:moveTo>
                <a:lnTo>
                  <a:pt x="4758175" y="0"/>
                </a:lnTo>
                <a:lnTo>
                  <a:pt x="4758175" y="5055166"/>
                </a:lnTo>
                <a:lnTo>
                  <a:pt x="0" y="5055166"/>
                </a:lnTo>
                <a:lnTo>
                  <a:pt x="0" y="0"/>
                </a:lnTo>
                <a:close/>
              </a:path>
            </a:pathLst>
          </a:custGeom>
          <a:blipFill>
            <a:blip r:embed="rId4"/>
            <a:stretch>
              <a:fillRect l="0" t="0" r="0" b="0"/>
            </a:stretch>
          </a:blipFill>
        </p:spPr>
      </p:sp>
      <p:sp>
        <p:nvSpPr>
          <p:cNvPr name="Freeform 8" id="8"/>
          <p:cNvSpPr/>
          <p:nvPr/>
        </p:nvSpPr>
        <p:spPr>
          <a:xfrm flipH="false" flipV="false" rot="1481988">
            <a:off x="1398313" y="3692122"/>
            <a:ext cx="3431873" cy="3646080"/>
          </a:xfrm>
          <a:custGeom>
            <a:avLst/>
            <a:gdLst/>
            <a:ahLst/>
            <a:cxnLst/>
            <a:rect r="r" b="b" t="t" l="l"/>
            <a:pathLst>
              <a:path h="3646080" w="3431873">
                <a:moveTo>
                  <a:pt x="0" y="0"/>
                </a:moveTo>
                <a:lnTo>
                  <a:pt x="3431872" y="0"/>
                </a:lnTo>
                <a:lnTo>
                  <a:pt x="3431872" y="3646080"/>
                </a:lnTo>
                <a:lnTo>
                  <a:pt x="0" y="3646080"/>
                </a:lnTo>
                <a:lnTo>
                  <a:pt x="0" y="0"/>
                </a:lnTo>
                <a:close/>
              </a:path>
            </a:pathLst>
          </a:custGeom>
          <a:blipFill>
            <a:blip r:embed="rId4"/>
            <a:stretch>
              <a:fillRect l="0" t="0" r="0" b="0"/>
            </a:stretch>
          </a:blipFill>
        </p:spPr>
      </p:sp>
      <p:sp>
        <p:nvSpPr>
          <p:cNvPr name="Freeform 9" id="9"/>
          <p:cNvSpPr/>
          <p:nvPr/>
        </p:nvSpPr>
        <p:spPr>
          <a:xfrm flipH="false" flipV="false" rot="0">
            <a:off x="8959667" y="7214657"/>
            <a:ext cx="368665" cy="368665"/>
          </a:xfrm>
          <a:custGeom>
            <a:avLst/>
            <a:gdLst/>
            <a:ahLst/>
            <a:cxnLst/>
            <a:rect r="r" b="b" t="t" l="l"/>
            <a:pathLst>
              <a:path h="368665" w="368665">
                <a:moveTo>
                  <a:pt x="0" y="0"/>
                </a:moveTo>
                <a:lnTo>
                  <a:pt x="368666" y="0"/>
                </a:lnTo>
                <a:lnTo>
                  <a:pt x="368666" y="368665"/>
                </a:lnTo>
                <a:lnTo>
                  <a:pt x="0" y="36866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DAHGafViEdg</dc:identifier>
  <dcterms:modified xsi:type="dcterms:W3CDTF">2011-08-01T06:04:30Z</dcterms:modified>
  <cp:revision>1</cp:revision>
  <dc:title>OS_SCH_01-Group04</dc:title>
</cp:coreProperties>
</file>